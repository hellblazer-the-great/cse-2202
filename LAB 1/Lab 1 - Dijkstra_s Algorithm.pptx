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7" roundtripDataSignature="AMtx7mi2cL77SIf3a6BuqFHVs+TIp/RD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7833F8-C205-4651-ACA1-CD6F70389ABC}">
  <a:tblStyle styleId="{037833F8-C205-4651-ACA1-CD6F70389AB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fill>
          <a:solidFill>
            <a:srgbClr val="CAD4EA"/>
          </a:solidFill>
        </a:fill>
      </a:tcStyle>
    </a:band1H>
    <a:band2H>
      <a:tcTxStyle/>
    </a:band2H>
    <a:band1V>
      <a:tcTxStyle/>
      <a:tcStyle>
        <a:fill>
          <a:solidFill>
            <a:srgbClr val="CA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customschemas.google.com/relationships/presentationmetadata" Target="meta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3"/>
          <p:cNvSpPr txBox="1"/>
          <p:nvPr>
            <p:ph type="ctrTitle"/>
          </p:nvPr>
        </p:nvSpPr>
        <p:spPr>
          <a:xfrm>
            <a:off x="1128403" y="945913"/>
            <a:ext cx="8637073" cy="26185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" type="subTitle"/>
          </p:nvPr>
        </p:nvSpPr>
        <p:spPr>
          <a:xfrm>
            <a:off x="1128404" y="3564467"/>
            <a:ext cx="8637072" cy="10710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0" sz="1800">
                <a:solidFill>
                  <a:schemeClr val="dk1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3"/>
          <p:cNvSpPr txBox="1"/>
          <p:nvPr>
            <p:ph idx="10" type="dt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3"/>
          <p:cNvSpPr txBox="1"/>
          <p:nvPr>
            <p:ph idx="11" type="ftr"/>
          </p:nvPr>
        </p:nvSpPr>
        <p:spPr>
          <a:xfrm>
            <a:off x="1127124" y="329307"/>
            <a:ext cx="5943668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3"/>
          <p:cNvSpPr txBox="1"/>
          <p:nvPr>
            <p:ph idx="12" type="sldNum"/>
          </p:nvPr>
        </p:nvSpPr>
        <p:spPr>
          <a:xfrm>
            <a:off x="9924392" y="134930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RedHashing.emf" id="24" name="Google Shape;24;p33"/>
          <p:cNvPicPr preferRelativeResize="0"/>
          <p:nvPr/>
        </p:nvPicPr>
        <p:blipFill rotWithShape="1">
          <a:blip r:embed="rId2">
            <a:alphaModFix/>
          </a:blip>
          <a:srcRect b="36435" l="-115" r="15828" t="0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4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4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4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C8F9F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4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C8F9FC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4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RedHashing.emf" id="31" name="Google Shape;31;p34"/>
          <p:cNvPicPr preferRelativeResize="0"/>
          <p:nvPr/>
        </p:nvPicPr>
        <p:blipFill rotWithShape="1">
          <a:blip r:embed="rId2">
            <a:alphaModFix/>
          </a:blip>
          <a:srcRect b="36435" l="-115" r="15828" t="0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/>
          <p:nvPr>
            <p:ph type="title"/>
          </p:nvPr>
        </p:nvSpPr>
        <p:spPr>
          <a:xfrm>
            <a:off x="1129167" y="1756129"/>
            <a:ext cx="8619060" cy="20500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5"/>
          <p:cNvSpPr txBox="1"/>
          <p:nvPr>
            <p:ph idx="1" type="body"/>
          </p:nvPr>
        </p:nvSpPr>
        <p:spPr>
          <a:xfrm>
            <a:off x="1129166" y="3806195"/>
            <a:ext cx="8619060" cy="10129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35"/>
          <p:cNvSpPr txBox="1"/>
          <p:nvPr>
            <p:ph idx="10" type="dt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5"/>
          <p:cNvSpPr txBox="1"/>
          <p:nvPr>
            <p:ph idx="11" type="ftr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5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RedHashing.emf" id="38" name="Google Shape;38;p35"/>
          <p:cNvPicPr preferRelativeResize="0"/>
          <p:nvPr/>
        </p:nvPicPr>
        <p:blipFill rotWithShape="1">
          <a:blip r:embed="rId2">
            <a:alphaModFix/>
          </a:blip>
          <a:srcRect b="36435" l="-115" r="15828" t="0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6"/>
          <p:cNvSpPr txBox="1"/>
          <p:nvPr>
            <p:ph type="title"/>
          </p:nvPr>
        </p:nvSpPr>
        <p:spPr>
          <a:xfrm>
            <a:off x="1131052" y="958037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6"/>
          <p:cNvSpPr txBox="1"/>
          <p:nvPr>
            <p:ph idx="1" type="body"/>
          </p:nvPr>
        </p:nvSpPr>
        <p:spPr>
          <a:xfrm>
            <a:off x="1129166" y="2165621"/>
            <a:ext cx="4645152" cy="32938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6"/>
          <p:cNvSpPr txBox="1"/>
          <p:nvPr>
            <p:ph idx="2" type="body"/>
          </p:nvPr>
        </p:nvSpPr>
        <p:spPr>
          <a:xfrm>
            <a:off x="6095606" y="2171769"/>
            <a:ext cx="4645152" cy="32870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36"/>
          <p:cNvSpPr txBox="1"/>
          <p:nvPr>
            <p:ph idx="10" type="dt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6"/>
          <p:cNvSpPr txBox="1"/>
          <p:nvPr>
            <p:ph idx="11" type="ftr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6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RedHashing.emf" id="46" name="Google Shape;46;p36"/>
          <p:cNvPicPr preferRelativeResize="0"/>
          <p:nvPr/>
        </p:nvPicPr>
        <p:blipFill rotWithShape="1">
          <a:blip r:embed="rId2">
            <a:alphaModFix/>
          </a:blip>
          <a:srcRect b="36435" l="-115" r="15828" t="0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7"/>
          <p:cNvSpPr txBox="1"/>
          <p:nvPr>
            <p:ph type="title"/>
          </p:nvPr>
        </p:nvSpPr>
        <p:spPr>
          <a:xfrm>
            <a:off x="1129166" y="953336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7"/>
          <p:cNvSpPr txBox="1"/>
          <p:nvPr>
            <p:ph idx="1" type="body"/>
          </p:nvPr>
        </p:nvSpPr>
        <p:spPr>
          <a:xfrm>
            <a:off x="1129166" y="2169727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0" sz="28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37"/>
          <p:cNvSpPr txBox="1"/>
          <p:nvPr>
            <p:ph idx="2" type="body"/>
          </p:nvPr>
        </p:nvSpPr>
        <p:spPr>
          <a:xfrm>
            <a:off x="1129166" y="2974448"/>
            <a:ext cx="4645152" cy="2493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37"/>
          <p:cNvSpPr txBox="1"/>
          <p:nvPr>
            <p:ph idx="3" type="body"/>
          </p:nvPr>
        </p:nvSpPr>
        <p:spPr>
          <a:xfrm>
            <a:off x="6094337" y="2173181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b="0" sz="28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37"/>
          <p:cNvSpPr txBox="1"/>
          <p:nvPr>
            <p:ph idx="4" type="body"/>
          </p:nvPr>
        </p:nvSpPr>
        <p:spPr>
          <a:xfrm>
            <a:off x="6094337" y="2971669"/>
            <a:ext cx="4645152" cy="2487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37"/>
          <p:cNvSpPr txBox="1"/>
          <p:nvPr>
            <p:ph idx="10" type="dt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7"/>
          <p:cNvSpPr txBox="1"/>
          <p:nvPr>
            <p:ph idx="11" type="ftr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7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RedHashing.emf" id="56" name="Google Shape;56;p37"/>
          <p:cNvPicPr preferRelativeResize="0"/>
          <p:nvPr/>
        </p:nvPicPr>
        <p:blipFill rotWithShape="1">
          <a:blip r:embed="rId2">
            <a:alphaModFix/>
          </a:blip>
          <a:srcRect b="36435" l="-115" r="15828" t="0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8"/>
          <p:cNvSpPr txBox="1"/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8"/>
          <p:cNvSpPr txBox="1"/>
          <p:nvPr>
            <p:ph idx="10" type="dt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8"/>
          <p:cNvSpPr txBox="1"/>
          <p:nvPr>
            <p:ph idx="11" type="ftr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8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RedHashing.emf" id="62" name="Google Shape;62;p38"/>
          <p:cNvPicPr preferRelativeResize="0"/>
          <p:nvPr/>
        </p:nvPicPr>
        <p:blipFill rotWithShape="1">
          <a:blip r:embed="rId2">
            <a:alphaModFix/>
          </a:blip>
          <a:srcRect b="36435" l="-115" r="15828" t="0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9"/>
          <p:cNvSpPr txBox="1"/>
          <p:nvPr>
            <p:ph idx="10" type="dt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9"/>
          <p:cNvSpPr txBox="1"/>
          <p:nvPr>
            <p:ph idx="11" type="ftr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9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0"/>
          <p:cNvSpPr txBox="1"/>
          <p:nvPr>
            <p:ph type="title"/>
          </p:nvPr>
        </p:nvSpPr>
        <p:spPr>
          <a:xfrm>
            <a:off x="1124291" y="952578"/>
            <a:ext cx="3275013" cy="232217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40"/>
          <p:cNvSpPr txBox="1"/>
          <p:nvPr>
            <p:ph idx="1" type="body"/>
          </p:nvPr>
        </p:nvSpPr>
        <p:spPr>
          <a:xfrm>
            <a:off x="4723334" y="952578"/>
            <a:ext cx="6012470" cy="4505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40"/>
          <p:cNvSpPr txBox="1"/>
          <p:nvPr>
            <p:ph idx="2" type="body"/>
          </p:nvPr>
        </p:nvSpPr>
        <p:spPr>
          <a:xfrm>
            <a:off x="1124291" y="3274754"/>
            <a:ext cx="3275013" cy="21789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40"/>
          <p:cNvSpPr txBox="1"/>
          <p:nvPr>
            <p:ph idx="10" type="dt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0"/>
          <p:cNvSpPr txBox="1"/>
          <p:nvPr>
            <p:ph idx="11" type="ftr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0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RedHashing.emf" id="74" name="Google Shape;74;p40"/>
          <p:cNvPicPr preferRelativeResize="0"/>
          <p:nvPr/>
        </p:nvPicPr>
        <p:blipFill rotWithShape="1">
          <a:blip r:embed="rId2">
            <a:alphaModFix/>
          </a:blip>
          <a:srcRect b="36435" l="-115" r="15828" t="0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41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77" name="Google Shape;77;p41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262626"/>
                </a:gs>
                <a:gs pos="100000">
                  <a:srgbClr val="0C0C0C"/>
                </a:gs>
              </a:gsLst>
              <a:lin ang="5400000" scaled="0"/>
            </a:grad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4118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41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50800">
              <a:solidFill>
                <a:srgbClr val="191919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41"/>
          <p:cNvSpPr txBox="1"/>
          <p:nvPr>
            <p:ph type="title"/>
          </p:nvPr>
        </p:nvSpPr>
        <p:spPr>
          <a:xfrm>
            <a:off x="1129124" y="1129513"/>
            <a:ext cx="5854872" cy="1924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1"/>
          <p:cNvSpPr/>
          <p:nvPr>
            <p:ph idx="2" type="pic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1" name="Google Shape;81;p41"/>
          <p:cNvSpPr txBox="1"/>
          <p:nvPr>
            <p:ph idx="1" type="body"/>
          </p:nvPr>
        </p:nvSpPr>
        <p:spPr>
          <a:xfrm>
            <a:off x="1128247" y="3053721"/>
            <a:ext cx="5846486" cy="2096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2" name="Google Shape;82;p41"/>
          <p:cNvSpPr txBox="1"/>
          <p:nvPr>
            <p:ph idx="10" type="dt"/>
          </p:nvPr>
        </p:nvSpPr>
        <p:spPr>
          <a:xfrm>
            <a:off x="1125300" y="5469856"/>
            <a:ext cx="5849605" cy="3201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1"/>
          <p:cNvSpPr txBox="1"/>
          <p:nvPr>
            <p:ph idx="11" type="ftr"/>
          </p:nvPr>
        </p:nvSpPr>
        <p:spPr>
          <a:xfrm>
            <a:off x="1125300" y="318640"/>
            <a:ext cx="4877818" cy="32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1"/>
          <p:cNvSpPr txBox="1"/>
          <p:nvPr>
            <p:ph idx="12" type="sldNum"/>
          </p:nvPr>
        </p:nvSpPr>
        <p:spPr>
          <a:xfrm>
            <a:off x="6176794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RedHashing.emf" id="85" name="Google Shape;85;p41"/>
          <p:cNvPicPr preferRelativeResize="0"/>
          <p:nvPr/>
        </p:nvPicPr>
        <p:blipFill rotWithShape="1">
          <a:blip r:embed="rId2">
            <a:alphaModFix/>
          </a:blip>
          <a:srcRect b="36564" l="-116" r="48549" t="47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2"/>
          <p:cNvSpPr txBox="1"/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2"/>
          <p:cNvSpPr txBox="1"/>
          <p:nvPr>
            <p:ph idx="1" type="body"/>
          </p:nvPr>
        </p:nvSpPr>
        <p:spPr>
          <a:xfrm rot="5400000">
            <a:off x="4284620" y="-982580"/>
            <a:ext cx="3294576" cy="960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42"/>
          <p:cNvSpPr txBox="1"/>
          <p:nvPr>
            <p:ph idx="10" type="dt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2"/>
          <p:cNvSpPr txBox="1"/>
          <p:nvPr>
            <p:ph idx="11" type="ftr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2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RedHashing.emf" id="92" name="Google Shape;92;p42"/>
          <p:cNvPicPr preferRelativeResize="0"/>
          <p:nvPr/>
        </p:nvPicPr>
        <p:blipFill rotWithShape="1">
          <a:blip r:embed="rId2">
            <a:alphaModFix/>
          </a:blip>
          <a:srcRect b="36435" l="-115" r="15828" t="0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3"/>
          <p:cNvSpPr txBox="1"/>
          <p:nvPr>
            <p:ph type="title"/>
          </p:nvPr>
        </p:nvSpPr>
        <p:spPr>
          <a:xfrm rot="5400000">
            <a:off x="7602635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3"/>
          <p:cNvSpPr txBox="1"/>
          <p:nvPr>
            <p:ph idx="1" type="body"/>
          </p:nvPr>
        </p:nvSpPr>
        <p:spPr>
          <a:xfrm rot="5400000">
            <a:off x="2714741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43"/>
          <p:cNvSpPr txBox="1"/>
          <p:nvPr>
            <p:ph idx="10" type="dt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3"/>
          <p:cNvSpPr txBox="1"/>
          <p:nvPr>
            <p:ph idx="11" type="ftr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3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RedHashing.emf" id="99" name="Google Shape;99;p43"/>
          <p:cNvPicPr preferRelativeResize="0"/>
          <p:nvPr/>
        </p:nvPicPr>
        <p:blipFill rotWithShape="1">
          <a:blip r:embed="rId2">
            <a:alphaModFix/>
          </a:blip>
          <a:srcRect b="36435" l="-115" r="59215" t="0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F8F8F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2"/>
          <p:cNvPicPr preferRelativeResize="0"/>
          <p:nvPr/>
        </p:nvPicPr>
        <p:blipFill rotWithShape="1">
          <a:blip r:embed="rId1">
            <a:alphaModFix/>
          </a:blip>
          <a:srcRect b="-1538" l="0" r="0" t="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>
            <a:gsLst>
              <a:gs pos="0">
                <a:srgbClr val="DBEFF9">
                  <a:alpha val="0"/>
                </a:srgbClr>
              </a:gs>
              <a:gs pos="100000">
                <a:srgbClr val="DBEFF8"/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32"/>
          <p:cNvCxnSpPr/>
          <p:nvPr/>
        </p:nvCxnSpPr>
        <p:spPr>
          <a:xfrm>
            <a:off x="0" y="6121269"/>
            <a:ext cx="12192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32"/>
          <p:cNvSpPr txBox="1"/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32"/>
          <p:cNvSpPr txBox="1"/>
          <p:nvPr>
            <p:ph idx="1" type="body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32"/>
          <p:cNvSpPr txBox="1"/>
          <p:nvPr>
            <p:ph idx="10" type="dt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32"/>
          <p:cNvSpPr txBox="1"/>
          <p:nvPr>
            <p:ph idx="11" type="ftr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2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geeksforgeeks.org/dijkstras-algorithm-for-adjacency-list-representation-greedy-algo-8/" TargetMode="External"/><Relationship Id="rId4" Type="http://schemas.openxmlformats.org/officeDocument/2006/relationships/hyperlink" Target="https://www.geeksforgeeks.org/dijkstras-shortest-path-algorithm-using-priority_queue-stl/" TargetMode="External"/><Relationship Id="rId5" Type="http://schemas.openxmlformats.org/officeDocument/2006/relationships/hyperlink" Target="https://cp-algorithms.com/graph/dijkstra_spars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ctrTitle"/>
          </p:nvPr>
        </p:nvSpPr>
        <p:spPr>
          <a:xfrm>
            <a:off x="212785" y="941654"/>
            <a:ext cx="11766430" cy="26185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lang="en-US"/>
              <a:t>Dijkstra’s Algorithm</a:t>
            </a:r>
            <a:endParaRPr/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1777464" y="4046158"/>
            <a:ext cx="8637072" cy="10710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Md. Mubtashim Abrar Nihal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/>
              <a:t>Ms. Subah Nawar</a:t>
            </a:r>
            <a:endParaRPr/>
          </a:p>
        </p:txBody>
      </p:sp>
      <p:sp>
        <p:nvSpPr>
          <p:cNvPr id="106" name="Google Shape;106;p1"/>
          <p:cNvSpPr txBox="1"/>
          <p:nvPr/>
        </p:nvSpPr>
        <p:spPr>
          <a:xfrm>
            <a:off x="3728204" y="215768"/>
            <a:ext cx="506215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CSE 2202: Algorithm Analysis and Design Laboratory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Recap</a:t>
            </a:r>
            <a:endParaRPr/>
          </a:p>
        </p:txBody>
      </p:sp>
      <p:sp>
        <p:nvSpPr>
          <p:cNvPr id="112" name="Google Shape;112;p2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We learnt the basic of graph theory in previous semester.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Nodes, Edges, Paths, etc.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We also learnt about graph traversal methods.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BFS and DFS.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We saw how we can find the shortest path between two nodes in an unweighted graph.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Using BFS.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But what if the graph is weighted?</a:t>
            </a:r>
            <a:endParaRPr/>
          </a:p>
        </p:txBody>
      </p:sp>
      <p:sp>
        <p:nvSpPr>
          <p:cNvPr id="113" name="Google Shape;113;p2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114" name="Google Shape;114;p2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115" name="Google Shape;115;p2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Shortest Path Problem</a:t>
            </a:r>
            <a:endParaRPr/>
          </a:p>
        </p:txBody>
      </p:sp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-184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122" name="Google Shape;122;p3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123" name="Google Shape;123;p3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124" name="Google Shape;124;p3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25" name="Google Shape;125;p3"/>
          <p:cNvGrpSpPr/>
          <p:nvPr/>
        </p:nvGrpSpPr>
        <p:grpSpPr>
          <a:xfrm>
            <a:off x="2415396" y="3260528"/>
            <a:ext cx="4448144" cy="2052927"/>
            <a:chOff x="2415396" y="3260528"/>
            <a:chExt cx="4448144" cy="2052927"/>
          </a:xfrm>
        </p:grpSpPr>
        <p:sp>
          <p:nvSpPr>
            <p:cNvPr id="126" name="Google Shape;126;p3"/>
            <p:cNvSpPr/>
            <p:nvPr/>
          </p:nvSpPr>
          <p:spPr>
            <a:xfrm>
              <a:off x="2415396" y="3916392"/>
              <a:ext cx="646981" cy="646982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4284452" y="3260528"/>
              <a:ext cx="646981" cy="646982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4284451" y="4666473"/>
              <a:ext cx="646981" cy="646982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6216559" y="3907510"/>
              <a:ext cx="646981" cy="646982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cxnSp>
          <p:nvCxnSpPr>
            <p:cNvPr id="130" name="Google Shape;130;p3"/>
            <p:cNvCxnSpPr>
              <a:stCxn id="126" idx="6"/>
              <a:endCxn id="127" idx="4"/>
            </p:cNvCxnSpPr>
            <p:nvPr/>
          </p:nvCxnSpPr>
          <p:spPr>
            <a:xfrm flipH="1" rot="10800000">
              <a:off x="3062377" y="3907483"/>
              <a:ext cx="1545600" cy="332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3"/>
            <p:cNvCxnSpPr>
              <a:stCxn id="127" idx="4"/>
              <a:endCxn id="129" idx="2"/>
            </p:cNvCxnSpPr>
            <p:nvPr/>
          </p:nvCxnSpPr>
          <p:spPr>
            <a:xfrm>
              <a:off x="4607943" y="3907510"/>
              <a:ext cx="1608600" cy="3234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3"/>
            <p:cNvCxnSpPr>
              <a:stCxn id="126" idx="6"/>
              <a:endCxn id="128" idx="0"/>
            </p:cNvCxnSpPr>
            <p:nvPr/>
          </p:nvCxnSpPr>
          <p:spPr>
            <a:xfrm>
              <a:off x="3062377" y="4239883"/>
              <a:ext cx="1545600" cy="426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3"/>
            <p:cNvCxnSpPr>
              <a:stCxn id="128" idx="0"/>
              <a:endCxn id="129" idx="2"/>
            </p:cNvCxnSpPr>
            <p:nvPr/>
          </p:nvCxnSpPr>
          <p:spPr>
            <a:xfrm flipH="1" rot="10800000">
              <a:off x="4607942" y="4230873"/>
              <a:ext cx="1608600" cy="435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Shortest Path Problem</a:t>
            </a:r>
            <a:endParaRPr/>
          </a:p>
        </p:txBody>
      </p:sp>
      <p:sp>
        <p:nvSpPr>
          <p:cNvPr id="139" name="Google Shape;139;p4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How do we find the shortest path now?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How can you say a path is longer/shorter than another one?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We need to assign a value to each path to compare them.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Let’s call this value the cost of a path.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We want to find the path with minimum cost.</a:t>
            </a:r>
            <a:endParaRPr/>
          </a:p>
        </p:txBody>
      </p:sp>
      <p:sp>
        <p:nvSpPr>
          <p:cNvPr id="140" name="Google Shape;140;p4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141" name="Google Shape;141;p4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142" name="Google Shape;142;p4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Cost of a Path</a:t>
            </a:r>
            <a:endParaRPr/>
          </a:p>
        </p:txBody>
      </p:sp>
      <p:sp>
        <p:nvSpPr>
          <p:cNvPr id="148" name="Google Shape;148;p5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149" name="Google Shape;149;p5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150" name="Google Shape;150;p5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151" name="Google Shape;151;p5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2" name="Google Shape;152;p5"/>
          <p:cNvGrpSpPr/>
          <p:nvPr/>
        </p:nvGrpSpPr>
        <p:grpSpPr>
          <a:xfrm>
            <a:off x="2743199" y="2234065"/>
            <a:ext cx="4448144" cy="3135542"/>
            <a:chOff x="2743199" y="2234065"/>
            <a:chExt cx="4448144" cy="3135542"/>
          </a:xfrm>
        </p:grpSpPr>
        <p:sp>
          <p:nvSpPr>
            <p:cNvPr id="153" name="Google Shape;153;p5"/>
            <p:cNvSpPr/>
            <p:nvPr/>
          </p:nvSpPr>
          <p:spPr>
            <a:xfrm>
              <a:off x="2743199" y="3213420"/>
              <a:ext cx="646981" cy="646982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4612255" y="2234065"/>
              <a:ext cx="646981" cy="646982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4612254" y="4722625"/>
              <a:ext cx="646981" cy="646982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6544362" y="3204538"/>
              <a:ext cx="646981" cy="646982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cxnSp>
          <p:nvCxnSpPr>
            <p:cNvPr id="157" name="Google Shape;157;p5"/>
            <p:cNvCxnSpPr>
              <a:stCxn id="153" idx="6"/>
              <a:endCxn id="154" idx="4"/>
            </p:cNvCxnSpPr>
            <p:nvPr/>
          </p:nvCxnSpPr>
          <p:spPr>
            <a:xfrm flipH="1" rot="10800000">
              <a:off x="3390180" y="2881111"/>
              <a:ext cx="1545600" cy="6558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5"/>
            <p:cNvCxnSpPr>
              <a:stCxn id="154" idx="4"/>
              <a:endCxn id="156" idx="2"/>
            </p:cNvCxnSpPr>
            <p:nvPr/>
          </p:nvCxnSpPr>
          <p:spPr>
            <a:xfrm>
              <a:off x="4935746" y="2881047"/>
              <a:ext cx="1608600" cy="6471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5"/>
            <p:cNvCxnSpPr>
              <a:stCxn id="153" idx="6"/>
              <a:endCxn id="155" idx="0"/>
            </p:cNvCxnSpPr>
            <p:nvPr/>
          </p:nvCxnSpPr>
          <p:spPr>
            <a:xfrm>
              <a:off x="3390180" y="3536911"/>
              <a:ext cx="1545600" cy="1185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5"/>
            <p:cNvCxnSpPr>
              <a:stCxn id="155" idx="0"/>
              <a:endCxn id="156" idx="2"/>
            </p:cNvCxnSpPr>
            <p:nvPr/>
          </p:nvCxnSpPr>
          <p:spPr>
            <a:xfrm flipH="1" rot="10800000">
              <a:off x="4935745" y="3528025"/>
              <a:ext cx="1608600" cy="11946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5"/>
            <p:cNvCxnSpPr>
              <a:stCxn id="154" idx="4"/>
              <a:endCxn id="155" idx="0"/>
            </p:cNvCxnSpPr>
            <p:nvPr/>
          </p:nvCxnSpPr>
          <p:spPr>
            <a:xfrm>
              <a:off x="4935746" y="2881047"/>
              <a:ext cx="0" cy="18417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2" name="Google Shape;162;p5"/>
            <p:cNvSpPr txBox="1"/>
            <p:nvPr/>
          </p:nvSpPr>
          <p:spPr>
            <a:xfrm>
              <a:off x="3870061" y="28211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63" name="Google Shape;163;p5"/>
            <p:cNvSpPr txBox="1"/>
            <p:nvPr/>
          </p:nvSpPr>
          <p:spPr>
            <a:xfrm>
              <a:off x="5677296" y="4125327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3928570" y="400810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65" name="Google Shape;165;p5"/>
            <p:cNvSpPr txBox="1"/>
            <p:nvPr/>
          </p:nvSpPr>
          <p:spPr>
            <a:xfrm>
              <a:off x="4667963" y="346622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66" name="Google Shape;166;p5"/>
            <p:cNvSpPr txBox="1"/>
            <p:nvPr/>
          </p:nvSpPr>
          <p:spPr>
            <a:xfrm>
              <a:off x="5677296" y="2922860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Cost of a Path</a:t>
            </a:r>
            <a:endParaRPr/>
          </a:p>
        </p:txBody>
      </p:sp>
      <p:sp>
        <p:nvSpPr>
          <p:cNvPr id="172" name="Google Shape;172;p6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In general, the cost of a path is calculated by summing up the weights of the edges along the  path.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But you can change the cost function.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Multiply the weights for example.</a:t>
            </a:r>
            <a:endParaRPr/>
          </a:p>
        </p:txBody>
      </p:sp>
      <p:sp>
        <p:nvSpPr>
          <p:cNvPr id="173" name="Google Shape;173;p6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174" name="Google Shape;174;p6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175" name="Google Shape;175;p6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Finding the Shortest Path</a:t>
            </a:r>
            <a:endParaRPr/>
          </a:p>
        </p:txBody>
      </p:sp>
      <p:sp>
        <p:nvSpPr>
          <p:cNvPr id="181" name="Google Shape;181;p7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Our target is to understand some well-known algorithms that will find the shortest path.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There are some variations in shortest path.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Single-pair shortest path.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Single-Source Shortest Path.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Single-Destination Shortest Path.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All-Pairs Shortest Path.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Let’s focus on </a:t>
            </a:r>
            <a:r>
              <a:rPr b="1" lang="en-US"/>
              <a:t>Single Source Shortest Path (SSSP) </a:t>
            </a:r>
            <a:r>
              <a:rPr lang="en-US"/>
              <a:t>Algorithms today.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Single Destination shortest path can be reduced to SSSP.</a:t>
            </a:r>
            <a:endParaRPr/>
          </a:p>
        </p:txBody>
      </p:sp>
      <p:sp>
        <p:nvSpPr>
          <p:cNvPr id="182" name="Google Shape;182;p7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183" name="Google Shape;183;p7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184" name="Google Shape;184;p7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Single Source Shortest Path Algorithms</a:t>
            </a:r>
            <a:endParaRPr/>
          </a:p>
        </p:txBody>
      </p:sp>
      <p:sp>
        <p:nvSpPr>
          <p:cNvPr id="190" name="Google Shape;190;p8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From a source vertex </a:t>
            </a:r>
            <a:r>
              <a:rPr b="1" lang="en-US"/>
              <a:t>s</a:t>
            </a:r>
            <a:r>
              <a:rPr lang="en-US"/>
              <a:t>, find the shortest path to all other vertices in the graph.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Some Common Algorithms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Dijkstra’s Algorithm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Bellman-Ford Algorithm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SPFA (Shortest Path Faster Algorithm)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Dial’s Algorithm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Thorup’s Algorithm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And So on.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We will talk about Dijkstra’s Algorithm today.</a:t>
            </a:r>
            <a:endParaRPr/>
          </a:p>
        </p:txBody>
      </p:sp>
      <p:sp>
        <p:nvSpPr>
          <p:cNvPr id="191" name="Google Shape;191;p8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192" name="Google Shape;192;p8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193" name="Google Shape;193;p8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Dijkstra’s Algorithm</a:t>
            </a:r>
            <a:endParaRPr/>
          </a:p>
        </p:txBody>
      </p:sp>
      <p:sp>
        <p:nvSpPr>
          <p:cNvPr id="199" name="Google Shape;199;p9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Choose a starting node.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Let dist[N] be the distance of node N from the source node.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Initially, set the distance of all the nodes to infinity.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We will try to improve the distances step by step.</a:t>
            </a:r>
            <a:endParaRPr/>
          </a:p>
        </p:txBody>
      </p:sp>
      <p:sp>
        <p:nvSpPr>
          <p:cNvPr id="200" name="Google Shape;200;p9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201" name="Google Shape;201;p9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202" name="Google Shape;202;p9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Dijkstra’s Algorithm</a:t>
            </a:r>
            <a:endParaRPr/>
          </a:p>
        </p:txBody>
      </p:sp>
      <p:sp>
        <p:nvSpPr>
          <p:cNvPr id="208" name="Google Shape;208;p10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Mark all nodes an unvisited. Create a set of all the unvisited nodes – unvisited set.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Assign to every node a distance from start value.</a:t>
            </a:r>
            <a:endParaRPr/>
          </a:p>
          <a:p>
            <a:pPr indent="-342900" lvl="1" marL="8001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alibri"/>
              <a:buAutoNum type="arabicPeriod"/>
            </a:pPr>
            <a:r>
              <a:rPr lang="en-US"/>
              <a:t>For starting node it is zero, For other nodes it is infinity.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From the unvisited set, select the node with smallest finite distance as current node.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For the current node, consider all of its unvisited neighbors and update their distance through the current node.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Mark the current node as visited and remove it from the unvisited.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Once the loop exits every visited node will contain its shortest distance from the starting node.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210" name="Google Shape;210;p10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211" name="Google Shape;211;p10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Algorithm Simulation</a:t>
            </a:r>
            <a:endParaRPr/>
          </a:p>
        </p:txBody>
      </p:sp>
      <p:sp>
        <p:nvSpPr>
          <p:cNvPr id="217" name="Google Shape;217;p11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Let’s consider the following graph.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We will select node 0 as starting node.</a:t>
            </a:r>
            <a:endParaRPr/>
          </a:p>
        </p:txBody>
      </p:sp>
      <p:sp>
        <p:nvSpPr>
          <p:cNvPr id="218" name="Google Shape;218;p11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219" name="Google Shape;219;p11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220" name="Google Shape;220;p11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21" name="Google Shape;221;p11"/>
          <p:cNvGrpSpPr/>
          <p:nvPr/>
        </p:nvGrpSpPr>
        <p:grpSpPr>
          <a:xfrm>
            <a:off x="2737031" y="1881981"/>
            <a:ext cx="6380131" cy="2525518"/>
            <a:chOff x="2002420" y="1625661"/>
            <a:chExt cx="6380131" cy="2525518"/>
          </a:xfrm>
        </p:grpSpPr>
        <p:sp>
          <p:nvSpPr>
            <p:cNvPr id="222" name="Google Shape;222;p11"/>
            <p:cNvSpPr/>
            <p:nvPr/>
          </p:nvSpPr>
          <p:spPr>
            <a:xfrm>
              <a:off x="2002420" y="2549173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223" name="Google Shape;223;p11"/>
            <p:cNvSpPr/>
            <p:nvPr/>
          </p:nvSpPr>
          <p:spPr>
            <a:xfrm>
              <a:off x="3434980" y="1701694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3434980" y="3584019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25" name="Google Shape;225;p11"/>
            <p:cNvSpPr/>
            <p:nvPr/>
          </p:nvSpPr>
          <p:spPr>
            <a:xfrm>
              <a:off x="4874090" y="2549173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26" name="Google Shape;226;p11"/>
            <p:cNvSpPr/>
            <p:nvPr/>
          </p:nvSpPr>
          <p:spPr>
            <a:xfrm>
              <a:off x="6318424" y="1625661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27" name="Google Shape;227;p11"/>
            <p:cNvSpPr/>
            <p:nvPr/>
          </p:nvSpPr>
          <p:spPr>
            <a:xfrm>
              <a:off x="6318424" y="3492830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7803817" y="2471252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cxnSp>
          <p:nvCxnSpPr>
            <p:cNvPr id="229" name="Google Shape;229;p11"/>
            <p:cNvCxnSpPr>
              <a:stCxn id="222" idx="6"/>
              <a:endCxn id="223" idx="4"/>
            </p:cNvCxnSpPr>
            <p:nvPr/>
          </p:nvCxnSpPr>
          <p:spPr>
            <a:xfrm flipH="1" rot="10800000">
              <a:off x="2581154" y="2268753"/>
              <a:ext cx="1143300" cy="564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0" name="Google Shape;230;p11"/>
            <p:cNvCxnSpPr>
              <a:stCxn id="222" idx="6"/>
              <a:endCxn id="224" idx="0"/>
            </p:cNvCxnSpPr>
            <p:nvPr/>
          </p:nvCxnSpPr>
          <p:spPr>
            <a:xfrm>
              <a:off x="2581154" y="2832753"/>
              <a:ext cx="1143300" cy="751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1" name="Google Shape;231;p11"/>
            <p:cNvCxnSpPr>
              <a:stCxn id="225" idx="2"/>
              <a:endCxn id="224" idx="0"/>
            </p:cNvCxnSpPr>
            <p:nvPr/>
          </p:nvCxnSpPr>
          <p:spPr>
            <a:xfrm flipH="1">
              <a:off x="3724490" y="2832753"/>
              <a:ext cx="1149600" cy="751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2" name="Google Shape;232;p11"/>
            <p:cNvCxnSpPr>
              <a:stCxn id="223" idx="4"/>
              <a:endCxn id="225" idx="2"/>
            </p:cNvCxnSpPr>
            <p:nvPr/>
          </p:nvCxnSpPr>
          <p:spPr>
            <a:xfrm>
              <a:off x="3724347" y="2268854"/>
              <a:ext cx="1149600" cy="564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" name="Google Shape;233;p11"/>
            <p:cNvCxnSpPr>
              <a:stCxn id="225" idx="6"/>
              <a:endCxn id="226" idx="4"/>
            </p:cNvCxnSpPr>
            <p:nvPr/>
          </p:nvCxnSpPr>
          <p:spPr>
            <a:xfrm flipH="1" rot="10800000">
              <a:off x="5452824" y="2192853"/>
              <a:ext cx="1155000" cy="639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4" name="Google Shape;234;p11"/>
            <p:cNvCxnSpPr>
              <a:stCxn id="225" idx="6"/>
              <a:endCxn id="227" idx="0"/>
            </p:cNvCxnSpPr>
            <p:nvPr/>
          </p:nvCxnSpPr>
          <p:spPr>
            <a:xfrm>
              <a:off x="5452824" y="2832753"/>
              <a:ext cx="11550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5" name="Google Shape;235;p11"/>
            <p:cNvCxnSpPr>
              <a:stCxn id="226" idx="4"/>
              <a:endCxn id="228" idx="2"/>
            </p:cNvCxnSpPr>
            <p:nvPr/>
          </p:nvCxnSpPr>
          <p:spPr>
            <a:xfrm>
              <a:off x="6607791" y="2192821"/>
              <a:ext cx="1196100" cy="561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6" name="Google Shape;236;p11"/>
            <p:cNvCxnSpPr>
              <a:stCxn id="227" idx="0"/>
              <a:endCxn id="228" idx="2"/>
            </p:cNvCxnSpPr>
            <p:nvPr/>
          </p:nvCxnSpPr>
          <p:spPr>
            <a:xfrm flipH="1" rot="10800000">
              <a:off x="6607791" y="2754830"/>
              <a:ext cx="1196100" cy="738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7" name="Google Shape;237;p11"/>
            <p:cNvSpPr txBox="1"/>
            <p:nvPr/>
          </p:nvSpPr>
          <p:spPr>
            <a:xfrm>
              <a:off x="2906491" y="219623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38" name="Google Shape;238;p11"/>
            <p:cNvSpPr txBox="1"/>
            <p:nvPr/>
          </p:nvSpPr>
          <p:spPr>
            <a:xfrm>
              <a:off x="2887637" y="313739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239" name="Google Shape;239;p11"/>
            <p:cNvSpPr txBox="1"/>
            <p:nvPr/>
          </p:nvSpPr>
          <p:spPr>
            <a:xfrm>
              <a:off x="4244479" y="3162791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40" name="Google Shape;240;p11"/>
            <p:cNvSpPr txBox="1"/>
            <p:nvPr/>
          </p:nvSpPr>
          <p:spPr>
            <a:xfrm>
              <a:off x="4310041" y="2220317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241" name="Google Shape;241;p11"/>
            <p:cNvSpPr txBox="1"/>
            <p:nvPr/>
          </p:nvSpPr>
          <p:spPr>
            <a:xfrm>
              <a:off x="5774905" y="2198477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242" name="Google Shape;242;p11"/>
            <p:cNvSpPr txBox="1"/>
            <p:nvPr/>
          </p:nvSpPr>
          <p:spPr>
            <a:xfrm>
              <a:off x="5787993" y="318523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243" name="Google Shape;243;p11"/>
            <p:cNvSpPr txBox="1"/>
            <p:nvPr/>
          </p:nvSpPr>
          <p:spPr>
            <a:xfrm>
              <a:off x="7241341" y="2185497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44" name="Google Shape;244;p11"/>
            <p:cNvSpPr txBox="1"/>
            <p:nvPr/>
          </p:nvSpPr>
          <p:spPr>
            <a:xfrm>
              <a:off x="7251880" y="3059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Algorithm Simulation</a:t>
            </a:r>
            <a:endParaRPr/>
          </a:p>
        </p:txBody>
      </p:sp>
      <p:sp>
        <p:nvSpPr>
          <p:cNvPr id="250" name="Google Shape;250;p12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We will need a distance array.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Initially all will have infinity except 0(source node)</a:t>
            </a:r>
            <a:endParaRPr/>
          </a:p>
        </p:txBody>
      </p:sp>
      <p:sp>
        <p:nvSpPr>
          <p:cNvPr id="251" name="Google Shape;251;p12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252" name="Google Shape;252;p12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253" name="Google Shape;253;p12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54" name="Google Shape;254;p12"/>
          <p:cNvGrpSpPr/>
          <p:nvPr/>
        </p:nvGrpSpPr>
        <p:grpSpPr>
          <a:xfrm>
            <a:off x="5466584" y="2018458"/>
            <a:ext cx="6380131" cy="2525518"/>
            <a:chOff x="2002420" y="1625661"/>
            <a:chExt cx="6380131" cy="2525518"/>
          </a:xfrm>
        </p:grpSpPr>
        <p:sp>
          <p:nvSpPr>
            <p:cNvPr id="255" name="Google Shape;255;p12"/>
            <p:cNvSpPr/>
            <p:nvPr/>
          </p:nvSpPr>
          <p:spPr>
            <a:xfrm>
              <a:off x="2002420" y="2549173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256" name="Google Shape;256;p12"/>
            <p:cNvSpPr/>
            <p:nvPr/>
          </p:nvSpPr>
          <p:spPr>
            <a:xfrm>
              <a:off x="3434980" y="1701694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57" name="Google Shape;257;p12"/>
            <p:cNvSpPr/>
            <p:nvPr/>
          </p:nvSpPr>
          <p:spPr>
            <a:xfrm>
              <a:off x="3434980" y="3584019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58" name="Google Shape;258;p12"/>
            <p:cNvSpPr/>
            <p:nvPr/>
          </p:nvSpPr>
          <p:spPr>
            <a:xfrm>
              <a:off x="4874090" y="2549173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59" name="Google Shape;259;p12"/>
            <p:cNvSpPr/>
            <p:nvPr/>
          </p:nvSpPr>
          <p:spPr>
            <a:xfrm>
              <a:off x="6318424" y="1625661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60" name="Google Shape;260;p12"/>
            <p:cNvSpPr/>
            <p:nvPr/>
          </p:nvSpPr>
          <p:spPr>
            <a:xfrm>
              <a:off x="6318424" y="3492830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61" name="Google Shape;261;p12"/>
            <p:cNvSpPr/>
            <p:nvPr/>
          </p:nvSpPr>
          <p:spPr>
            <a:xfrm>
              <a:off x="7803817" y="2471252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cxnSp>
          <p:nvCxnSpPr>
            <p:cNvPr id="262" name="Google Shape;262;p12"/>
            <p:cNvCxnSpPr>
              <a:stCxn id="255" idx="6"/>
              <a:endCxn id="256" idx="4"/>
            </p:cNvCxnSpPr>
            <p:nvPr/>
          </p:nvCxnSpPr>
          <p:spPr>
            <a:xfrm flipH="1" rot="10800000">
              <a:off x="2581154" y="2268753"/>
              <a:ext cx="1143300" cy="564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3" name="Google Shape;263;p12"/>
            <p:cNvCxnSpPr>
              <a:stCxn id="255" idx="6"/>
              <a:endCxn id="257" idx="0"/>
            </p:cNvCxnSpPr>
            <p:nvPr/>
          </p:nvCxnSpPr>
          <p:spPr>
            <a:xfrm>
              <a:off x="2581154" y="2832753"/>
              <a:ext cx="1143300" cy="751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4" name="Google Shape;264;p12"/>
            <p:cNvCxnSpPr>
              <a:stCxn id="258" idx="2"/>
              <a:endCxn id="257" idx="0"/>
            </p:cNvCxnSpPr>
            <p:nvPr/>
          </p:nvCxnSpPr>
          <p:spPr>
            <a:xfrm flipH="1">
              <a:off x="3724490" y="2832753"/>
              <a:ext cx="1149600" cy="751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5" name="Google Shape;265;p12"/>
            <p:cNvCxnSpPr>
              <a:stCxn id="256" idx="4"/>
              <a:endCxn id="258" idx="2"/>
            </p:cNvCxnSpPr>
            <p:nvPr/>
          </p:nvCxnSpPr>
          <p:spPr>
            <a:xfrm>
              <a:off x="3724347" y="2268854"/>
              <a:ext cx="1149600" cy="564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6" name="Google Shape;266;p12"/>
            <p:cNvCxnSpPr>
              <a:stCxn id="258" idx="6"/>
              <a:endCxn id="259" idx="4"/>
            </p:cNvCxnSpPr>
            <p:nvPr/>
          </p:nvCxnSpPr>
          <p:spPr>
            <a:xfrm flipH="1" rot="10800000">
              <a:off x="5452824" y="2192853"/>
              <a:ext cx="1155000" cy="639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7" name="Google Shape;267;p12"/>
            <p:cNvCxnSpPr>
              <a:stCxn id="258" idx="6"/>
              <a:endCxn id="260" idx="0"/>
            </p:cNvCxnSpPr>
            <p:nvPr/>
          </p:nvCxnSpPr>
          <p:spPr>
            <a:xfrm>
              <a:off x="5452824" y="2832753"/>
              <a:ext cx="11550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8" name="Google Shape;268;p12"/>
            <p:cNvCxnSpPr>
              <a:stCxn id="259" idx="4"/>
              <a:endCxn id="261" idx="2"/>
            </p:cNvCxnSpPr>
            <p:nvPr/>
          </p:nvCxnSpPr>
          <p:spPr>
            <a:xfrm>
              <a:off x="6607791" y="2192821"/>
              <a:ext cx="1196100" cy="561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9" name="Google Shape;269;p12"/>
            <p:cNvCxnSpPr>
              <a:stCxn id="260" idx="0"/>
              <a:endCxn id="261" idx="2"/>
            </p:cNvCxnSpPr>
            <p:nvPr/>
          </p:nvCxnSpPr>
          <p:spPr>
            <a:xfrm flipH="1" rot="10800000">
              <a:off x="6607791" y="2754830"/>
              <a:ext cx="1196100" cy="738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0" name="Google Shape;270;p12"/>
            <p:cNvSpPr txBox="1"/>
            <p:nvPr/>
          </p:nvSpPr>
          <p:spPr>
            <a:xfrm>
              <a:off x="2906491" y="219623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71" name="Google Shape;271;p12"/>
            <p:cNvSpPr txBox="1"/>
            <p:nvPr/>
          </p:nvSpPr>
          <p:spPr>
            <a:xfrm>
              <a:off x="2887637" y="313739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272" name="Google Shape;272;p12"/>
            <p:cNvSpPr txBox="1"/>
            <p:nvPr/>
          </p:nvSpPr>
          <p:spPr>
            <a:xfrm>
              <a:off x="4244479" y="3162791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73" name="Google Shape;273;p12"/>
            <p:cNvSpPr txBox="1"/>
            <p:nvPr/>
          </p:nvSpPr>
          <p:spPr>
            <a:xfrm>
              <a:off x="4310041" y="2220317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274" name="Google Shape;274;p12"/>
            <p:cNvSpPr txBox="1"/>
            <p:nvPr/>
          </p:nvSpPr>
          <p:spPr>
            <a:xfrm>
              <a:off x="5774905" y="2198477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275" name="Google Shape;275;p12"/>
            <p:cNvSpPr txBox="1"/>
            <p:nvPr/>
          </p:nvSpPr>
          <p:spPr>
            <a:xfrm>
              <a:off x="5787993" y="318523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276" name="Google Shape;276;p12"/>
            <p:cNvSpPr txBox="1"/>
            <p:nvPr/>
          </p:nvSpPr>
          <p:spPr>
            <a:xfrm>
              <a:off x="7241341" y="2185497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77" name="Google Shape;277;p12"/>
            <p:cNvSpPr txBox="1"/>
            <p:nvPr/>
          </p:nvSpPr>
          <p:spPr>
            <a:xfrm>
              <a:off x="7251880" y="3059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</p:grpSp>
      <p:graphicFrame>
        <p:nvGraphicFramePr>
          <p:cNvPr id="278" name="Google Shape;278;p12"/>
          <p:cNvGraphicFramePr/>
          <p:nvPr/>
        </p:nvGraphicFramePr>
        <p:xfrm>
          <a:off x="597803" y="19152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{037833F8-C205-4651-ACA1-CD6F70389ABC}</a:tableStyleId>
              </a:tblPr>
              <a:tblGrid>
                <a:gridCol w="660075"/>
                <a:gridCol w="660075"/>
                <a:gridCol w="660075"/>
                <a:gridCol w="660075"/>
                <a:gridCol w="660075"/>
                <a:gridCol w="660075"/>
                <a:gridCol w="660075"/>
              </a:tblGrid>
              <a:tr h="370850">
                <a:tc gridSpan="7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Algorithm Simulation</a:t>
            </a:r>
            <a:endParaRPr/>
          </a:p>
        </p:txBody>
      </p:sp>
      <p:sp>
        <p:nvSpPr>
          <p:cNvPr id="284" name="Google Shape;284;p13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We also need an unvisited set.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 will maintain a visited array for this purpose.</a:t>
            </a:r>
            <a:endParaRPr/>
          </a:p>
        </p:txBody>
      </p:sp>
      <p:sp>
        <p:nvSpPr>
          <p:cNvPr id="285" name="Google Shape;285;p13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286" name="Google Shape;286;p13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287" name="Google Shape;287;p13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88" name="Google Shape;288;p13"/>
          <p:cNvGrpSpPr/>
          <p:nvPr/>
        </p:nvGrpSpPr>
        <p:grpSpPr>
          <a:xfrm>
            <a:off x="5466584" y="2018458"/>
            <a:ext cx="6380131" cy="2525518"/>
            <a:chOff x="2002420" y="1625661"/>
            <a:chExt cx="6380131" cy="2525518"/>
          </a:xfrm>
        </p:grpSpPr>
        <p:sp>
          <p:nvSpPr>
            <p:cNvPr id="289" name="Google Shape;289;p13"/>
            <p:cNvSpPr/>
            <p:nvPr/>
          </p:nvSpPr>
          <p:spPr>
            <a:xfrm>
              <a:off x="2002420" y="2549173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290" name="Google Shape;290;p13"/>
            <p:cNvSpPr/>
            <p:nvPr/>
          </p:nvSpPr>
          <p:spPr>
            <a:xfrm>
              <a:off x="3434980" y="1701694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291" name="Google Shape;291;p13"/>
            <p:cNvSpPr/>
            <p:nvPr/>
          </p:nvSpPr>
          <p:spPr>
            <a:xfrm>
              <a:off x="3434980" y="3584019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292" name="Google Shape;292;p13"/>
            <p:cNvSpPr/>
            <p:nvPr/>
          </p:nvSpPr>
          <p:spPr>
            <a:xfrm>
              <a:off x="4874090" y="2549173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293" name="Google Shape;293;p13"/>
            <p:cNvSpPr/>
            <p:nvPr/>
          </p:nvSpPr>
          <p:spPr>
            <a:xfrm>
              <a:off x="6318424" y="1625661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294" name="Google Shape;294;p13"/>
            <p:cNvSpPr/>
            <p:nvPr/>
          </p:nvSpPr>
          <p:spPr>
            <a:xfrm>
              <a:off x="6318424" y="3492830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295" name="Google Shape;295;p13"/>
            <p:cNvSpPr/>
            <p:nvPr/>
          </p:nvSpPr>
          <p:spPr>
            <a:xfrm>
              <a:off x="7803817" y="2471252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cxnSp>
          <p:nvCxnSpPr>
            <p:cNvPr id="296" name="Google Shape;296;p13"/>
            <p:cNvCxnSpPr>
              <a:stCxn id="289" idx="6"/>
              <a:endCxn id="290" idx="4"/>
            </p:cNvCxnSpPr>
            <p:nvPr/>
          </p:nvCxnSpPr>
          <p:spPr>
            <a:xfrm flipH="1" rot="10800000">
              <a:off x="2581154" y="2268753"/>
              <a:ext cx="1143300" cy="564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7" name="Google Shape;297;p13"/>
            <p:cNvCxnSpPr>
              <a:stCxn id="289" idx="6"/>
              <a:endCxn id="291" idx="0"/>
            </p:cNvCxnSpPr>
            <p:nvPr/>
          </p:nvCxnSpPr>
          <p:spPr>
            <a:xfrm>
              <a:off x="2581154" y="2832753"/>
              <a:ext cx="1143300" cy="751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8" name="Google Shape;298;p13"/>
            <p:cNvCxnSpPr>
              <a:stCxn id="292" idx="2"/>
              <a:endCxn id="291" idx="0"/>
            </p:cNvCxnSpPr>
            <p:nvPr/>
          </p:nvCxnSpPr>
          <p:spPr>
            <a:xfrm flipH="1">
              <a:off x="3724490" y="2832753"/>
              <a:ext cx="1149600" cy="751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9" name="Google Shape;299;p13"/>
            <p:cNvCxnSpPr>
              <a:stCxn id="290" idx="4"/>
              <a:endCxn id="292" idx="2"/>
            </p:cNvCxnSpPr>
            <p:nvPr/>
          </p:nvCxnSpPr>
          <p:spPr>
            <a:xfrm>
              <a:off x="3724347" y="2268854"/>
              <a:ext cx="1149600" cy="564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0" name="Google Shape;300;p13"/>
            <p:cNvCxnSpPr>
              <a:stCxn id="292" idx="6"/>
              <a:endCxn id="293" idx="4"/>
            </p:cNvCxnSpPr>
            <p:nvPr/>
          </p:nvCxnSpPr>
          <p:spPr>
            <a:xfrm flipH="1" rot="10800000">
              <a:off x="5452824" y="2192853"/>
              <a:ext cx="1155000" cy="639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1" name="Google Shape;301;p13"/>
            <p:cNvCxnSpPr>
              <a:stCxn id="292" idx="6"/>
              <a:endCxn id="294" idx="0"/>
            </p:cNvCxnSpPr>
            <p:nvPr/>
          </p:nvCxnSpPr>
          <p:spPr>
            <a:xfrm>
              <a:off x="5452824" y="2832753"/>
              <a:ext cx="11550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2" name="Google Shape;302;p13"/>
            <p:cNvCxnSpPr>
              <a:stCxn id="293" idx="4"/>
              <a:endCxn id="295" idx="2"/>
            </p:cNvCxnSpPr>
            <p:nvPr/>
          </p:nvCxnSpPr>
          <p:spPr>
            <a:xfrm>
              <a:off x="6607791" y="2192821"/>
              <a:ext cx="1196100" cy="561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3" name="Google Shape;303;p13"/>
            <p:cNvCxnSpPr>
              <a:stCxn id="294" idx="0"/>
              <a:endCxn id="295" idx="2"/>
            </p:cNvCxnSpPr>
            <p:nvPr/>
          </p:nvCxnSpPr>
          <p:spPr>
            <a:xfrm flipH="1" rot="10800000">
              <a:off x="6607791" y="2754830"/>
              <a:ext cx="1196100" cy="738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4" name="Google Shape;304;p13"/>
            <p:cNvSpPr txBox="1"/>
            <p:nvPr/>
          </p:nvSpPr>
          <p:spPr>
            <a:xfrm>
              <a:off x="2906491" y="219623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05" name="Google Shape;305;p13"/>
            <p:cNvSpPr txBox="1"/>
            <p:nvPr/>
          </p:nvSpPr>
          <p:spPr>
            <a:xfrm>
              <a:off x="2887637" y="313739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06" name="Google Shape;306;p13"/>
            <p:cNvSpPr txBox="1"/>
            <p:nvPr/>
          </p:nvSpPr>
          <p:spPr>
            <a:xfrm>
              <a:off x="4244479" y="3162791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07" name="Google Shape;307;p13"/>
            <p:cNvSpPr txBox="1"/>
            <p:nvPr/>
          </p:nvSpPr>
          <p:spPr>
            <a:xfrm>
              <a:off x="4310041" y="2220317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08" name="Google Shape;308;p13"/>
            <p:cNvSpPr txBox="1"/>
            <p:nvPr/>
          </p:nvSpPr>
          <p:spPr>
            <a:xfrm>
              <a:off x="5774905" y="2198477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309" name="Google Shape;309;p13"/>
            <p:cNvSpPr txBox="1"/>
            <p:nvPr/>
          </p:nvSpPr>
          <p:spPr>
            <a:xfrm>
              <a:off x="5787993" y="3185234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310" name="Google Shape;310;p13"/>
            <p:cNvSpPr txBox="1"/>
            <p:nvPr/>
          </p:nvSpPr>
          <p:spPr>
            <a:xfrm>
              <a:off x="7241341" y="2185497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11" name="Google Shape;311;p13"/>
            <p:cNvSpPr txBox="1"/>
            <p:nvPr/>
          </p:nvSpPr>
          <p:spPr>
            <a:xfrm>
              <a:off x="7251880" y="3059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</p:grpSp>
      <p:graphicFrame>
        <p:nvGraphicFramePr>
          <p:cNvPr id="312" name="Google Shape;312;p13"/>
          <p:cNvGraphicFramePr/>
          <p:nvPr/>
        </p:nvGraphicFramePr>
        <p:xfrm>
          <a:off x="597803" y="19152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{037833F8-C205-4651-ACA1-CD6F70389ABC}</a:tableStyleId>
              </a:tblPr>
              <a:tblGrid>
                <a:gridCol w="660075"/>
                <a:gridCol w="660075"/>
                <a:gridCol w="660075"/>
                <a:gridCol w="660075"/>
                <a:gridCol w="660075"/>
                <a:gridCol w="660075"/>
                <a:gridCol w="660075"/>
              </a:tblGrid>
              <a:tr h="370850">
                <a:tc gridSpan="7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/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4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Algorithm Simulation</a:t>
            </a:r>
            <a:endParaRPr/>
          </a:p>
        </p:txBody>
      </p:sp>
      <p:sp>
        <p:nvSpPr>
          <p:cNvPr id="318" name="Google Shape;318;p14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We need to find the node with </a:t>
            </a:r>
            <a:r>
              <a:rPr b="1" lang="en-US"/>
              <a:t>minimum distance </a:t>
            </a:r>
            <a:r>
              <a:rPr lang="en-US"/>
              <a:t>that is </a:t>
            </a:r>
            <a:r>
              <a:rPr b="1" lang="en-US"/>
              <a:t>not</a:t>
            </a:r>
            <a:r>
              <a:rPr lang="en-US"/>
              <a:t> </a:t>
            </a:r>
            <a:r>
              <a:rPr b="1" lang="en-US"/>
              <a:t>marked visited</a:t>
            </a:r>
            <a:r>
              <a:rPr lang="en-US"/>
              <a:t>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will be the source node initially.</a:t>
            </a:r>
            <a:endParaRPr/>
          </a:p>
        </p:txBody>
      </p:sp>
      <p:sp>
        <p:nvSpPr>
          <p:cNvPr id="319" name="Google Shape;319;p14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320" name="Google Shape;320;p14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321" name="Google Shape;321;p14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22" name="Google Shape;322;p14"/>
          <p:cNvGrpSpPr/>
          <p:nvPr/>
        </p:nvGrpSpPr>
        <p:grpSpPr>
          <a:xfrm>
            <a:off x="2737031" y="1719529"/>
            <a:ext cx="6380131" cy="2525518"/>
            <a:chOff x="2737031" y="1719529"/>
            <a:chExt cx="6380131" cy="2525518"/>
          </a:xfrm>
        </p:grpSpPr>
        <p:sp>
          <p:nvSpPr>
            <p:cNvPr id="323" name="Google Shape;323;p14"/>
            <p:cNvSpPr/>
            <p:nvPr/>
          </p:nvSpPr>
          <p:spPr>
            <a:xfrm>
              <a:off x="2737031" y="2643041"/>
              <a:ext cx="578734" cy="567160"/>
            </a:xfrm>
            <a:prstGeom prst="ellipse">
              <a:avLst/>
            </a:prstGeom>
            <a:solidFill>
              <a:srgbClr val="08674D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/>
            </a:p>
          </p:txBody>
        </p:sp>
        <p:sp>
          <p:nvSpPr>
            <p:cNvPr id="324" name="Google Shape;324;p14"/>
            <p:cNvSpPr/>
            <p:nvPr/>
          </p:nvSpPr>
          <p:spPr>
            <a:xfrm>
              <a:off x="4169591" y="1795562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25" name="Google Shape;325;p14"/>
            <p:cNvSpPr/>
            <p:nvPr/>
          </p:nvSpPr>
          <p:spPr>
            <a:xfrm>
              <a:off x="4169591" y="3677887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5608701" y="2643041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7053035" y="1719529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7053035" y="3586698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8538428" y="2565120"/>
              <a:ext cx="578734" cy="567160"/>
            </a:xfrm>
            <a:prstGeom prst="ellipse">
              <a:avLst/>
            </a:prstGeom>
            <a:solidFill>
              <a:schemeClr val="accent1"/>
            </a:solidFill>
            <a:ln cap="flat" cmpd="sng" w="15875">
              <a:solidFill>
                <a:srgbClr val="062E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cxnSp>
          <p:nvCxnSpPr>
            <p:cNvPr id="330" name="Google Shape;330;p14"/>
            <p:cNvCxnSpPr>
              <a:stCxn id="323" idx="6"/>
              <a:endCxn id="324" idx="4"/>
            </p:cNvCxnSpPr>
            <p:nvPr/>
          </p:nvCxnSpPr>
          <p:spPr>
            <a:xfrm flipH="1" rot="10800000">
              <a:off x="3315765" y="2362621"/>
              <a:ext cx="1143300" cy="564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1" name="Google Shape;331;p14"/>
            <p:cNvCxnSpPr>
              <a:stCxn id="323" idx="6"/>
              <a:endCxn id="325" idx="0"/>
            </p:cNvCxnSpPr>
            <p:nvPr/>
          </p:nvCxnSpPr>
          <p:spPr>
            <a:xfrm>
              <a:off x="3315765" y="2926621"/>
              <a:ext cx="1143300" cy="751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2" name="Google Shape;332;p14"/>
            <p:cNvCxnSpPr>
              <a:stCxn id="326" idx="2"/>
              <a:endCxn id="325" idx="0"/>
            </p:cNvCxnSpPr>
            <p:nvPr/>
          </p:nvCxnSpPr>
          <p:spPr>
            <a:xfrm flipH="1">
              <a:off x="4459101" y="2926621"/>
              <a:ext cx="1149600" cy="7512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3" name="Google Shape;333;p14"/>
            <p:cNvCxnSpPr>
              <a:stCxn id="324" idx="4"/>
              <a:endCxn id="326" idx="2"/>
            </p:cNvCxnSpPr>
            <p:nvPr/>
          </p:nvCxnSpPr>
          <p:spPr>
            <a:xfrm>
              <a:off x="4458958" y="2362722"/>
              <a:ext cx="1149600" cy="564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4" name="Google Shape;334;p14"/>
            <p:cNvCxnSpPr>
              <a:stCxn id="326" idx="6"/>
              <a:endCxn id="327" idx="4"/>
            </p:cNvCxnSpPr>
            <p:nvPr/>
          </p:nvCxnSpPr>
          <p:spPr>
            <a:xfrm flipH="1" rot="10800000">
              <a:off x="6187435" y="2286721"/>
              <a:ext cx="1155000" cy="639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5" name="Google Shape;335;p14"/>
            <p:cNvCxnSpPr>
              <a:stCxn id="326" idx="6"/>
              <a:endCxn id="328" idx="0"/>
            </p:cNvCxnSpPr>
            <p:nvPr/>
          </p:nvCxnSpPr>
          <p:spPr>
            <a:xfrm>
              <a:off x="6187435" y="2926621"/>
              <a:ext cx="1155000" cy="660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6" name="Google Shape;336;p14"/>
            <p:cNvCxnSpPr>
              <a:stCxn id="327" idx="4"/>
              <a:endCxn id="329" idx="2"/>
            </p:cNvCxnSpPr>
            <p:nvPr/>
          </p:nvCxnSpPr>
          <p:spPr>
            <a:xfrm>
              <a:off x="7342402" y="2286689"/>
              <a:ext cx="1196100" cy="561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7" name="Google Shape;337;p14"/>
            <p:cNvCxnSpPr>
              <a:stCxn id="328" idx="0"/>
              <a:endCxn id="329" idx="2"/>
            </p:cNvCxnSpPr>
            <p:nvPr/>
          </p:nvCxnSpPr>
          <p:spPr>
            <a:xfrm flipH="1" rot="10800000">
              <a:off x="7342402" y="2848698"/>
              <a:ext cx="1196100" cy="7380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8" name="Google Shape;338;p14"/>
            <p:cNvSpPr txBox="1"/>
            <p:nvPr/>
          </p:nvSpPr>
          <p:spPr>
            <a:xfrm>
              <a:off x="3641102" y="2290101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39" name="Google Shape;339;p14"/>
            <p:cNvSpPr txBox="1"/>
            <p:nvPr/>
          </p:nvSpPr>
          <p:spPr>
            <a:xfrm>
              <a:off x="3622248" y="3231264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40" name="Google Shape;340;p14"/>
            <p:cNvSpPr txBox="1"/>
            <p:nvPr/>
          </p:nvSpPr>
          <p:spPr>
            <a:xfrm>
              <a:off x="4979090" y="3256659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341" name="Google Shape;341;p14"/>
            <p:cNvSpPr txBox="1"/>
            <p:nvPr/>
          </p:nvSpPr>
          <p:spPr>
            <a:xfrm>
              <a:off x="5044652" y="231418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342" name="Google Shape;342;p14"/>
            <p:cNvSpPr txBox="1"/>
            <p:nvPr/>
          </p:nvSpPr>
          <p:spPr>
            <a:xfrm>
              <a:off x="6509516" y="2292345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</a:t>
              </a:r>
              <a:endParaRPr/>
            </a:p>
          </p:txBody>
        </p:sp>
        <p:sp>
          <p:nvSpPr>
            <p:cNvPr id="343" name="Google Shape;343;p14"/>
            <p:cNvSpPr txBox="1"/>
            <p:nvPr/>
          </p:nvSpPr>
          <p:spPr>
            <a:xfrm>
              <a:off x="6522604" y="3279102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15</a:t>
              </a:r>
              <a:endParaRPr/>
            </a:p>
          </p:txBody>
        </p:sp>
        <p:sp>
          <p:nvSpPr>
            <p:cNvPr id="344" name="Google Shape;344;p14"/>
            <p:cNvSpPr txBox="1"/>
            <p:nvPr/>
          </p:nvSpPr>
          <p:spPr>
            <a:xfrm>
              <a:off x="7975952" y="227936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345" name="Google Shape;345;p14"/>
            <p:cNvSpPr txBox="1"/>
            <p:nvPr/>
          </p:nvSpPr>
          <p:spPr>
            <a:xfrm>
              <a:off x="7986491" y="315353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</p:grpSp>
      <p:graphicFrame>
        <p:nvGraphicFramePr>
          <p:cNvPr id="346" name="Google Shape;346;p14"/>
          <p:cNvGraphicFramePr/>
          <p:nvPr/>
        </p:nvGraphicFramePr>
        <p:xfrm>
          <a:off x="2820998" y="453006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Node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Algorithm Simulation</a:t>
            </a:r>
            <a:endParaRPr/>
          </a:p>
        </p:txBody>
      </p:sp>
      <p:sp>
        <p:nvSpPr>
          <p:cNvPr id="352" name="Google Shape;352;p15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353" name="Google Shape;353;p15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354" name="Google Shape;354;p15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355" name="Google Shape;355;p15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2737031" y="2643041"/>
            <a:ext cx="578734" cy="567160"/>
          </a:xfrm>
          <a:prstGeom prst="ellipse">
            <a:avLst/>
          </a:prstGeom>
          <a:solidFill>
            <a:srgbClr val="08674D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4169591" y="1795562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4169591" y="3677887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5608701" y="2643041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7053035" y="1719529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7053035" y="3586698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8538428" y="2565120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363" name="Google Shape;363;p15"/>
          <p:cNvCxnSpPr>
            <a:stCxn id="356" idx="6"/>
            <a:endCxn id="357" idx="4"/>
          </p:cNvCxnSpPr>
          <p:nvPr/>
        </p:nvCxnSpPr>
        <p:spPr>
          <a:xfrm flipH="1" rot="10800000">
            <a:off x="3315765" y="2362621"/>
            <a:ext cx="11433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" name="Google Shape;364;p15"/>
          <p:cNvCxnSpPr>
            <a:stCxn id="356" idx="6"/>
            <a:endCxn id="358" idx="0"/>
          </p:cNvCxnSpPr>
          <p:nvPr/>
        </p:nvCxnSpPr>
        <p:spPr>
          <a:xfrm>
            <a:off x="3315765" y="2926621"/>
            <a:ext cx="11433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" name="Google Shape;365;p15"/>
          <p:cNvCxnSpPr>
            <a:stCxn id="359" idx="2"/>
            <a:endCxn id="358" idx="0"/>
          </p:cNvCxnSpPr>
          <p:nvPr/>
        </p:nvCxnSpPr>
        <p:spPr>
          <a:xfrm flipH="1">
            <a:off x="4459101" y="2926621"/>
            <a:ext cx="11496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p15"/>
          <p:cNvCxnSpPr>
            <a:stCxn id="357" idx="4"/>
            <a:endCxn id="359" idx="2"/>
          </p:cNvCxnSpPr>
          <p:nvPr/>
        </p:nvCxnSpPr>
        <p:spPr>
          <a:xfrm>
            <a:off x="4458958" y="2362722"/>
            <a:ext cx="11496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15"/>
          <p:cNvCxnSpPr>
            <a:stCxn id="359" idx="6"/>
            <a:endCxn id="360" idx="4"/>
          </p:cNvCxnSpPr>
          <p:nvPr/>
        </p:nvCxnSpPr>
        <p:spPr>
          <a:xfrm flipH="1" rot="10800000">
            <a:off x="6187435" y="2286721"/>
            <a:ext cx="1155000" cy="63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15"/>
          <p:cNvCxnSpPr>
            <a:stCxn id="359" idx="6"/>
            <a:endCxn id="361" idx="0"/>
          </p:cNvCxnSpPr>
          <p:nvPr/>
        </p:nvCxnSpPr>
        <p:spPr>
          <a:xfrm>
            <a:off x="6187435" y="2926621"/>
            <a:ext cx="1155000" cy="66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p15"/>
          <p:cNvCxnSpPr>
            <a:stCxn id="360" idx="4"/>
            <a:endCxn id="362" idx="2"/>
          </p:cNvCxnSpPr>
          <p:nvPr/>
        </p:nvCxnSpPr>
        <p:spPr>
          <a:xfrm>
            <a:off x="7342402" y="2286689"/>
            <a:ext cx="1196100" cy="561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0" name="Google Shape;370;p15"/>
          <p:cNvCxnSpPr>
            <a:stCxn id="361" idx="0"/>
            <a:endCxn id="362" idx="2"/>
          </p:cNvCxnSpPr>
          <p:nvPr/>
        </p:nvCxnSpPr>
        <p:spPr>
          <a:xfrm flipH="1" rot="10800000">
            <a:off x="7342402" y="2848698"/>
            <a:ext cx="1196100" cy="73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1" name="Google Shape;371;p15"/>
          <p:cNvSpPr txBox="1"/>
          <p:nvPr/>
        </p:nvSpPr>
        <p:spPr>
          <a:xfrm>
            <a:off x="3641102" y="229010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2" name="Google Shape;372;p15"/>
          <p:cNvSpPr txBox="1"/>
          <p:nvPr/>
        </p:nvSpPr>
        <p:spPr>
          <a:xfrm>
            <a:off x="3622248" y="323126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73" name="Google Shape;373;p15"/>
          <p:cNvSpPr txBox="1"/>
          <p:nvPr/>
        </p:nvSpPr>
        <p:spPr>
          <a:xfrm>
            <a:off x="4979090" y="325665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74" name="Google Shape;374;p15"/>
          <p:cNvSpPr txBox="1"/>
          <p:nvPr/>
        </p:nvSpPr>
        <p:spPr>
          <a:xfrm>
            <a:off x="5044652" y="231418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375" name="Google Shape;375;p15"/>
          <p:cNvSpPr txBox="1"/>
          <p:nvPr/>
        </p:nvSpPr>
        <p:spPr>
          <a:xfrm>
            <a:off x="6509516" y="229234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376" name="Google Shape;376;p15"/>
          <p:cNvSpPr txBox="1"/>
          <p:nvPr/>
        </p:nvSpPr>
        <p:spPr>
          <a:xfrm>
            <a:off x="6522604" y="3279102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377" name="Google Shape;377;p15"/>
          <p:cNvSpPr txBox="1"/>
          <p:nvPr/>
        </p:nvSpPr>
        <p:spPr>
          <a:xfrm>
            <a:off x="7975952" y="22793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78" name="Google Shape;378;p15"/>
          <p:cNvSpPr txBox="1"/>
          <p:nvPr/>
        </p:nvSpPr>
        <p:spPr>
          <a:xfrm>
            <a:off x="7986491" y="31535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aphicFrame>
        <p:nvGraphicFramePr>
          <p:cNvPr id="379" name="Google Shape;379;p15"/>
          <p:cNvGraphicFramePr/>
          <p:nvPr/>
        </p:nvGraphicFramePr>
        <p:xfrm>
          <a:off x="2820998" y="453006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Node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380" name="Google Shape;380;p15"/>
          <p:cNvSpPr txBox="1"/>
          <p:nvPr/>
        </p:nvSpPr>
        <p:spPr>
          <a:xfrm>
            <a:off x="8385642" y="3351449"/>
            <a:ext cx="3775777" cy="92333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381" name="Google Shape;381;p15"/>
          <p:cNvGraphicFramePr/>
          <p:nvPr/>
        </p:nvGraphicFramePr>
        <p:xfrm>
          <a:off x="2820998" y="52695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382" name="Google Shape;382;p15"/>
          <p:cNvSpPr txBox="1"/>
          <p:nvPr/>
        </p:nvSpPr>
        <p:spPr>
          <a:xfrm>
            <a:off x="8359191" y="3351449"/>
            <a:ext cx="3828677" cy="92333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383" name="Google Shape;383;p15"/>
          <p:cNvGraphicFramePr/>
          <p:nvPr/>
        </p:nvGraphicFramePr>
        <p:xfrm>
          <a:off x="2820997" y="5254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6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Algorithm Simulation</a:t>
            </a:r>
            <a:endParaRPr/>
          </a:p>
        </p:txBody>
      </p:sp>
      <p:sp>
        <p:nvSpPr>
          <p:cNvPr id="389" name="Google Shape;389;p16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Finally, mark 0 as visited.</a:t>
            </a:r>
            <a:endParaRPr/>
          </a:p>
        </p:txBody>
      </p:sp>
      <p:sp>
        <p:nvSpPr>
          <p:cNvPr id="390" name="Google Shape;390;p16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391" name="Google Shape;391;p16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392" name="Google Shape;392;p16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3" name="Google Shape;393;p16"/>
          <p:cNvSpPr/>
          <p:nvPr/>
        </p:nvSpPr>
        <p:spPr>
          <a:xfrm>
            <a:off x="2737031" y="2643041"/>
            <a:ext cx="578734" cy="567160"/>
          </a:xfrm>
          <a:prstGeom prst="ellipse">
            <a:avLst/>
          </a:prstGeom>
          <a:solidFill>
            <a:srgbClr val="08674D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394" name="Google Shape;394;p16"/>
          <p:cNvSpPr/>
          <p:nvPr/>
        </p:nvSpPr>
        <p:spPr>
          <a:xfrm>
            <a:off x="4169591" y="1795562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95" name="Google Shape;395;p16"/>
          <p:cNvSpPr/>
          <p:nvPr/>
        </p:nvSpPr>
        <p:spPr>
          <a:xfrm>
            <a:off x="4169591" y="3677887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96" name="Google Shape;396;p16"/>
          <p:cNvSpPr/>
          <p:nvPr/>
        </p:nvSpPr>
        <p:spPr>
          <a:xfrm>
            <a:off x="5608701" y="2643041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397" name="Google Shape;397;p16"/>
          <p:cNvSpPr/>
          <p:nvPr/>
        </p:nvSpPr>
        <p:spPr>
          <a:xfrm>
            <a:off x="7053035" y="1719529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98" name="Google Shape;398;p16"/>
          <p:cNvSpPr/>
          <p:nvPr/>
        </p:nvSpPr>
        <p:spPr>
          <a:xfrm>
            <a:off x="7053035" y="3586698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399" name="Google Shape;399;p16"/>
          <p:cNvSpPr/>
          <p:nvPr/>
        </p:nvSpPr>
        <p:spPr>
          <a:xfrm>
            <a:off x="8538428" y="2565120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400" name="Google Shape;400;p16"/>
          <p:cNvCxnSpPr>
            <a:stCxn id="393" idx="6"/>
            <a:endCxn id="394" idx="4"/>
          </p:cNvCxnSpPr>
          <p:nvPr/>
        </p:nvCxnSpPr>
        <p:spPr>
          <a:xfrm flipH="1" rot="10800000">
            <a:off x="3315765" y="2362621"/>
            <a:ext cx="11433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16"/>
          <p:cNvCxnSpPr>
            <a:stCxn id="393" idx="6"/>
            <a:endCxn id="395" idx="0"/>
          </p:cNvCxnSpPr>
          <p:nvPr/>
        </p:nvCxnSpPr>
        <p:spPr>
          <a:xfrm>
            <a:off x="3315765" y="2926621"/>
            <a:ext cx="11433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16"/>
          <p:cNvCxnSpPr>
            <a:stCxn id="396" idx="2"/>
            <a:endCxn id="395" idx="0"/>
          </p:cNvCxnSpPr>
          <p:nvPr/>
        </p:nvCxnSpPr>
        <p:spPr>
          <a:xfrm flipH="1">
            <a:off x="4459101" y="2926621"/>
            <a:ext cx="11496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" name="Google Shape;403;p16"/>
          <p:cNvCxnSpPr>
            <a:stCxn id="394" idx="4"/>
            <a:endCxn id="396" idx="2"/>
          </p:cNvCxnSpPr>
          <p:nvPr/>
        </p:nvCxnSpPr>
        <p:spPr>
          <a:xfrm>
            <a:off x="4458958" y="2362722"/>
            <a:ext cx="11496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16"/>
          <p:cNvCxnSpPr>
            <a:stCxn id="396" idx="6"/>
            <a:endCxn id="397" idx="4"/>
          </p:cNvCxnSpPr>
          <p:nvPr/>
        </p:nvCxnSpPr>
        <p:spPr>
          <a:xfrm flipH="1" rot="10800000">
            <a:off x="6187435" y="2286721"/>
            <a:ext cx="1155000" cy="63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16"/>
          <p:cNvCxnSpPr>
            <a:stCxn id="396" idx="6"/>
            <a:endCxn id="398" idx="0"/>
          </p:cNvCxnSpPr>
          <p:nvPr/>
        </p:nvCxnSpPr>
        <p:spPr>
          <a:xfrm>
            <a:off x="6187435" y="2926621"/>
            <a:ext cx="1155000" cy="66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16"/>
          <p:cNvCxnSpPr>
            <a:stCxn id="397" idx="4"/>
            <a:endCxn id="399" idx="2"/>
          </p:cNvCxnSpPr>
          <p:nvPr/>
        </p:nvCxnSpPr>
        <p:spPr>
          <a:xfrm>
            <a:off x="7342402" y="2286689"/>
            <a:ext cx="1196100" cy="561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16"/>
          <p:cNvCxnSpPr>
            <a:stCxn id="398" idx="0"/>
            <a:endCxn id="399" idx="2"/>
          </p:cNvCxnSpPr>
          <p:nvPr/>
        </p:nvCxnSpPr>
        <p:spPr>
          <a:xfrm flipH="1" rot="10800000">
            <a:off x="7342402" y="2848698"/>
            <a:ext cx="1196100" cy="73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16"/>
          <p:cNvSpPr txBox="1"/>
          <p:nvPr/>
        </p:nvSpPr>
        <p:spPr>
          <a:xfrm>
            <a:off x="3641102" y="229010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09" name="Google Shape;409;p16"/>
          <p:cNvSpPr txBox="1"/>
          <p:nvPr/>
        </p:nvSpPr>
        <p:spPr>
          <a:xfrm>
            <a:off x="3622248" y="323126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10" name="Google Shape;410;p16"/>
          <p:cNvSpPr txBox="1"/>
          <p:nvPr/>
        </p:nvSpPr>
        <p:spPr>
          <a:xfrm>
            <a:off x="4979090" y="325665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1" name="Google Shape;411;p16"/>
          <p:cNvSpPr txBox="1"/>
          <p:nvPr/>
        </p:nvSpPr>
        <p:spPr>
          <a:xfrm>
            <a:off x="5044652" y="231418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12" name="Google Shape;412;p16"/>
          <p:cNvSpPr txBox="1"/>
          <p:nvPr/>
        </p:nvSpPr>
        <p:spPr>
          <a:xfrm>
            <a:off x="6509516" y="229234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13" name="Google Shape;413;p16"/>
          <p:cNvSpPr txBox="1"/>
          <p:nvPr/>
        </p:nvSpPr>
        <p:spPr>
          <a:xfrm>
            <a:off x="6522604" y="3279102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414" name="Google Shape;414;p16"/>
          <p:cNvSpPr txBox="1"/>
          <p:nvPr/>
        </p:nvSpPr>
        <p:spPr>
          <a:xfrm>
            <a:off x="7975952" y="22793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5" name="Google Shape;415;p16"/>
          <p:cNvSpPr txBox="1"/>
          <p:nvPr/>
        </p:nvSpPr>
        <p:spPr>
          <a:xfrm>
            <a:off x="7986491" y="31535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aphicFrame>
        <p:nvGraphicFramePr>
          <p:cNvPr id="416" name="Google Shape;416;p16"/>
          <p:cNvGraphicFramePr/>
          <p:nvPr/>
        </p:nvGraphicFramePr>
        <p:xfrm>
          <a:off x="2820998" y="453006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Node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417" name="Google Shape;417;p16"/>
          <p:cNvGraphicFramePr/>
          <p:nvPr/>
        </p:nvGraphicFramePr>
        <p:xfrm>
          <a:off x="2820997" y="4900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54A8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7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Algorithm Simulation</a:t>
            </a:r>
            <a:endParaRPr/>
          </a:p>
        </p:txBody>
      </p:sp>
      <p:sp>
        <p:nvSpPr>
          <p:cNvPr id="423" name="Google Shape;423;p17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We repeat this loop (find unvisited node &amp; update neighbors distance) until there’s no unvisited node.</a:t>
            </a:r>
            <a:endParaRPr/>
          </a:p>
        </p:txBody>
      </p:sp>
      <p:sp>
        <p:nvSpPr>
          <p:cNvPr id="424" name="Google Shape;424;p17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425" name="Google Shape;425;p17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426" name="Google Shape;426;p17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7" name="Google Shape;427;p17"/>
          <p:cNvSpPr/>
          <p:nvPr/>
        </p:nvSpPr>
        <p:spPr>
          <a:xfrm>
            <a:off x="2737031" y="2643041"/>
            <a:ext cx="578734" cy="567160"/>
          </a:xfrm>
          <a:prstGeom prst="ellipse">
            <a:avLst/>
          </a:prstGeom>
          <a:solidFill>
            <a:srgbClr val="08674D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28" name="Google Shape;428;p17"/>
          <p:cNvSpPr/>
          <p:nvPr/>
        </p:nvSpPr>
        <p:spPr>
          <a:xfrm>
            <a:off x="4169591" y="1795562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29" name="Google Shape;429;p17"/>
          <p:cNvSpPr/>
          <p:nvPr/>
        </p:nvSpPr>
        <p:spPr>
          <a:xfrm>
            <a:off x="4169591" y="3677887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30" name="Google Shape;430;p17"/>
          <p:cNvSpPr/>
          <p:nvPr/>
        </p:nvSpPr>
        <p:spPr>
          <a:xfrm>
            <a:off x="5608701" y="2643041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31" name="Google Shape;431;p17"/>
          <p:cNvSpPr/>
          <p:nvPr/>
        </p:nvSpPr>
        <p:spPr>
          <a:xfrm>
            <a:off x="7053035" y="1719529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32" name="Google Shape;432;p17"/>
          <p:cNvSpPr/>
          <p:nvPr/>
        </p:nvSpPr>
        <p:spPr>
          <a:xfrm>
            <a:off x="7053035" y="3586698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33" name="Google Shape;433;p17"/>
          <p:cNvSpPr/>
          <p:nvPr/>
        </p:nvSpPr>
        <p:spPr>
          <a:xfrm>
            <a:off x="8538428" y="2565120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434" name="Google Shape;434;p17"/>
          <p:cNvCxnSpPr>
            <a:stCxn id="427" idx="6"/>
            <a:endCxn id="428" idx="4"/>
          </p:cNvCxnSpPr>
          <p:nvPr/>
        </p:nvCxnSpPr>
        <p:spPr>
          <a:xfrm flipH="1" rot="10800000">
            <a:off x="3315765" y="2362621"/>
            <a:ext cx="11433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p17"/>
          <p:cNvCxnSpPr>
            <a:stCxn id="427" idx="6"/>
            <a:endCxn id="429" idx="0"/>
          </p:cNvCxnSpPr>
          <p:nvPr/>
        </p:nvCxnSpPr>
        <p:spPr>
          <a:xfrm>
            <a:off x="3315765" y="2926621"/>
            <a:ext cx="11433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6" name="Google Shape;436;p17"/>
          <p:cNvCxnSpPr>
            <a:stCxn id="430" idx="2"/>
            <a:endCxn id="429" idx="0"/>
          </p:cNvCxnSpPr>
          <p:nvPr/>
        </p:nvCxnSpPr>
        <p:spPr>
          <a:xfrm flipH="1">
            <a:off x="4459101" y="2926621"/>
            <a:ext cx="11496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7" name="Google Shape;437;p17"/>
          <p:cNvCxnSpPr>
            <a:stCxn id="428" idx="4"/>
            <a:endCxn id="430" idx="2"/>
          </p:cNvCxnSpPr>
          <p:nvPr/>
        </p:nvCxnSpPr>
        <p:spPr>
          <a:xfrm>
            <a:off x="4458958" y="2362722"/>
            <a:ext cx="11496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8" name="Google Shape;438;p17"/>
          <p:cNvCxnSpPr>
            <a:stCxn id="430" idx="6"/>
            <a:endCxn id="431" idx="4"/>
          </p:cNvCxnSpPr>
          <p:nvPr/>
        </p:nvCxnSpPr>
        <p:spPr>
          <a:xfrm flipH="1" rot="10800000">
            <a:off x="6187435" y="2286721"/>
            <a:ext cx="1155000" cy="63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9" name="Google Shape;439;p17"/>
          <p:cNvCxnSpPr>
            <a:stCxn id="430" idx="6"/>
            <a:endCxn id="432" idx="0"/>
          </p:cNvCxnSpPr>
          <p:nvPr/>
        </p:nvCxnSpPr>
        <p:spPr>
          <a:xfrm>
            <a:off x="6187435" y="2926621"/>
            <a:ext cx="1155000" cy="66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0" name="Google Shape;440;p17"/>
          <p:cNvCxnSpPr>
            <a:stCxn id="431" idx="4"/>
            <a:endCxn id="433" idx="2"/>
          </p:cNvCxnSpPr>
          <p:nvPr/>
        </p:nvCxnSpPr>
        <p:spPr>
          <a:xfrm>
            <a:off x="7342402" y="2286689"/>
            <a:ext cx="1196100" cy="561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17"/>
          <p:cNvCxnSpPr>
            <a:stCxn id="432" idx="0"/>
            <a:endCxn id="433" idx="2"/>
          </p:cNvCxnSpPr>
          <p:nvPr/>
        </p:nvCxnSpPr>
        <p:spPr>
          <a:xfrm flipH="1" rot="10800000">
            <a:off x="7342402" y="2848698"/>
            <a:ext cx="1196100" cy="73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p17"/>
          <p:cNvSpPr txBox="1"/>
          <p:nvPr/>
        </p:nvSpPr>
        <p:spPr>
          <a:xfrm>
            <a:off x="3641102" y="229010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43" name="Google Shape;443;p17"/>
          <p:cNvSpPr txBox="1"/>
          <p:nvPr/>
        </p:nvSpPr>
        <p:spPr>
          <a:xfrm>
            <a:off x="3622248" y="323126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44" name="Google Shape;444;p17"/>
          <p:cNvSpPr txBox="1"/>
          <p:nvPr/>
        </p:nvSpPr>
        <p:spPr>
          <a:xfrm>
            <a:off x="4979090" y="325665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45" name="Google Shape;445;p17"/>
          <p:cNvSpPr txBox="1"/>
          <p:nvPr/>
        </p:nvSpPr>
        <p:spPr>
          <a:xfrm>
            <a:off x="5044652" y="231418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46" name="Google Shape;446;p17"/>
          <p:cNvSpPr txBox="1"/>
          <p:nvPr/>
        </p:nvSpPr>
        <p:spPr>
          <a:xfrm>
            <a:off x="6509516" y="229234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47" name="Google Shape;447;p17"/>
          <p:cNvSpPr txBox="1"/>
          <p:nvPr/>
        </p:nvSpPr>
        <p:spPr>
          <a:xfrm>
            <a:off x="6522604" y="3279102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448" name="Google Shape;448;p17"/>
          <p:cNvSpPr txBox="1"/>
          <p:nvPr/>
        </p:nvSpPr>
        <p:spPr>
          <a:xfrm>
            <a:off x="7975952" y="22793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49" name="Google Shape;449;p17"/>
          <p:cNvSpPr txBox="1"/>
          <p:nvPr/>
        </p:nvSpPr>
        <p:spPr>
          <a:xfrm>
            <a:off x="7986491" y="31535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aphicFrame>
        <p:nvGraphicFramePr>
          <p:cNvPr id="450" name="Google Shape;450;p17"/>
          <p:cNvGraphicFramePr/>
          <p:nvPr/>
        </p:nvGraphicFramePr>
        <p:xfrm>
          <a:off x="2820998" y="453006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Node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8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Algorithm Simulation</a:t>
            </a:r>
            <a:endParaRPr/>
          </a:p>
        </p:txBody>
      </p:sp>
      <p:sp>
        <p:nvSpPr>
          <p:cNvPr id="456" name="Google Shape;456;p18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Unvisited node with minimum distance.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</a:t>
            </a:r>
            <a:endParaRPr/>
          </a:p>
        </p:txBody>
      </p:sp>
      <p:sp>
        <p:nvSpPr>
          <p:cNvPr id="457" name="Google Shape;457;p18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458" name="Google Shape;458;p18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459" name="Google Shape;459;p18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0" name="Google Shape;460;p18"/>
          <p:cNvSpPr/>
          <p:nvPr/>
        </p:nvSpPr>
        <p:spPr>
          <a:xfrm>
            <a:off x="2737031" y="2643041"/>
            <a:ext cx="578734" cy="567160"/>
          </a:xfrm>
          <a:prstGeom prst="ellipse">
            <a:avLst/>
          </a:prstGeom>
          <a:solidFill>
            <a:srgbClr val="0F6FC6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61" name="Google Shape;461;p18"/>
          <p:cNvSpPr/>
          <p:nvPr/>
        </p:nvSpPr>
        <p:spPr>
          <a:xfrm>
            <a:off x="4169591" y="1795562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62" name="Google Shape;462;p18"/>
          <p:cNvSpPr/>
          <p:nvPr/>
        </p:nvSpPr>
        <p:spPr>
          <a:xfrm>
            <a:off x="4169591" y="3677887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63" name="Google Shape;463;p18"/>
          <p:cNvSpPr/>
          <p:nvPr/>
        </p:nvSpPr>
        <p:spPr>
          <a:xfrm>
            <a:off x="5608701" y="2643041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64" name="Google Shape;464;p18"/>
          <p:cNvSpPr/>
          <p:nvPr/>
        </p:nvSpPr>
        <p:spPr>
          <a:xfrm>
            <a:off x="7053035" y="1719529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65" name="Google Shape;465;p18"/>
          <p:cNvSpPr/>
          <p:nvPr/>
        </p:nvSpPr>
        <p:spPr>
          <a:xfrm>
            <a:off x="7053035" y="3586698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66" name="Google Shape;466;p18"/>
          <p:cNvSpPr/>
          <p:nvPr/>
        </p:nvSpPr>
        <p:spPr>
          <a:xfrm>
            <a:off x="8538428" y="2565120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467" name="Google Shape;467;p18"/>
          <p:cNvCxnSpPr>
            <a:stCxn id="460" idx="6"/>
            <a:endCxn id="461" idx="4"/>
          </p:cNvCxnSpPr>
          <p:nvPr/>
        </p:nvCxnSpPr>
        <p:spPr>
          <a:xfrm flipH="1" rot="10800000">
            <a:off x="3315765" y="2362621"/>
            <a:ext cx="11433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p18"/>
          <p:cNvCxnSpPr>
            <a:stCxn id="460" idx="6"/>
            <a:endCxn id="462" idx="0"/>
          </p:cNvCxnSpPr>
          <p:nvPr/>
        </p:nvCxnSpPr>
        <p:spPr>
          <a:xfrm>
            <a:off x="3315765" y="2926621"/>
            <a:ext cx="11433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9" name="Google Shape;469;p18"/>
          <p:cNvCxnSpPr>
            <a:stCxn id="463" idx="2"/>
            <a:endCxn id="462" idx="0"/>
          </p:cNvCxnSpPr>
          <p:nvPr/>
        </p:nvCxnSpPr>
        <p:spPr>
          <a:xfrm flipH="1">
            <a:off x="4459101" y="2926621"/>
            <a:ext cx="11496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" name="Google Shape;470;p18"/>
          <p:cNvCxnSpPr>
            <a:stCxn id="461" idx="4"/>
            <a:endCxn id="463" idx="2"/>
          </p:cNvCxnSpPr>
          <p:nvPr/>
        </p:nvCxnSpPr>
        <p:spPr>
          <a:xfrm>
            <a:off x="4458958" y="2362722"/>
            <a:ext cx="11496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1" name="Google Shape;471;p18"/>
          <p:cNvCxnSpPr>
            <a:stCxn id="463" idx="6"/>
            <a:endCxn id="464" idx="4"/>
          </p:cNvCxnSpPr>
          <p:nvPr/>
        </p:nvCxnSpPr>
        <p:spPr>
          <a:xfrm flipH="1" rot="10800000">
            <a:off x="6187435" y="2286721"/>
            <a:ext cx="1155000" cy="63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2" name="Google Shape;472;p18"/>
          <p:cNvCxnSpPr>
            <a:stCxn id="463" idx="6"/>
            <a:endCxn id="465" idx="0"/>
          </p:cNvCxnSpPr>
          <p:nvPr/>
        </p:nvCxnSpPr>
        <p:spPr>
          <a:xfrm>
            <a:off x="6187435" y="2926621"/>
            <a:ext cx="1155000" cy="66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3" name="Google Shape;473;p18"/>
          <p:cNvCxnSpPr>
            <a:stCxn id="464" idx="4"/>
            <a:endCxn id="466" idx="2"/>
          </p:cNvCxnSpPr>
          <p:nvPr/>
        </p:nvCxnSpPr>
        <p:spPr>
          <a:xfrm>
            <a:off x="7342402" y="2286689"/>
            <a:ext cx="1196100" cy="561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4" name="Google Shape;474;p18"/>
          <p:cNvCxnSpPr>
            <a:stCxn id="465" idx="0"/>
            <a:endCxn id="466" idx="2"/>
          </p:cNvCxnSpPr>
          <p:nvPr/>
        </p:nvCxnSpPr>
        <p:spPr>
          <a:xfrm flipH="1" rot="10800000">
            <a:off x="7342402" y="2848698"/>
            <a:ext cx="1196100" cy="73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5" name="Google Shape;475;p18"/>
          <p:cNvSpPr txBox="1"/>
          <p:nvPr/>
        </p:nvSpPr>
        <p:spPr>
          <a:xfrm>
            <a:off x="3641102" y="229010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76" name="Google Shape;476;p18"/>
          <p:cNvSpPr txBox="1"/>
          <p:nvPr/>
        </p:nvSpPr>
        <p:spPr>
          <a:xfrm>
            <a:off x="3622248" y="323126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77" name="Google Shape;477;p18"/>
          <p:cNvSpPr txBox="1"/>
          <p:nvPr/>
        </p:nvSpPr>
        <p:spPr>
          <a:xfrm>
            <a:off x="4979090" y="325665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78" name="Google Shape;478;p18"/>
          <p:cNvSpPr txBox="1"/>
          <p:nvPr/>
        </p:nvSpPr>
        <p:spPr>
          <a:xfrm>
            <a:off x="5044652" y="231418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79" name="Google Shape;479;p18"/>
          <p:cNvSpPr txBox="1"/>
          <p:nvPr/>
        </p:nvSpPr>
        <p:spPr>
          <a:xfrm>
            <a:off x="6509516" y="229234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80" name="Google Shape;480;p18"/>
          <p:cNvSpPr txBox="1"/>
          <p:nvPr/>
        </p:nvSpPr>
        <p:spPr>
          <a:xfrm>
            <a:off x="6522604" y="3279102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481" name="Google Shape;481;p18"/>
          <p:cNvSpPr txBox="1"/>
          <p:nvPr/>
        </p:nvSpPr>
        <p:spPr>
          <a:xfrm>
            <a:off x="7975952" y="22793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82" name="Google Shape;482;p18"/>
          <p:cNvSpPr txBox="1"/>
          <p:nvPr/>
        </p:nvSpPr>
        <p:spPr>
          <a:xfrm>
            <a:off x="7986491" y="31535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aphicFrame>
        <p:nvGraphicFramePr>
          <p:cNvPr id="483" name="Google Shape;483;p18"/>
          <p:cNvGraphicFramePr/>
          <p:nvPr/>
        </p:nvGraphicFramePr>
        <p:xfrm>
          <a:off x="2820998" y="453006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Node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9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Algorithm Simulation</a:t>
            </a:r>
            <a:endParaRPr/>
          </a:p>
        </p:txBody>
      </p:sp>
      <p:sp>
        <p:nvSpPr>
          <p:cNvPr id="489" name="Google Shape;489;p19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Update distance of neighbor (node 3).</a:t>
            </a:r>
            <a:endParaRPr/>
          </a:p>
        </p:txBody>
      </p:sp>
      <p:sp>
        <p:nvSpPr>
          <p:cNvPr id="490" name="Google Shape;490;p19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491" name="Google Shape;491;p19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492" name="Google Shape;492;p19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3" name="Google Shape;493;p19"/>
          <p:cNvSpPr/>
          <p:nvPr/>
        </p:nvSpPr>
        <p:spPr>
          <a:xfrm>
            <a:off x="2737031" y="2643041"/>
            <a:ext cx="578734" cy="567160"/>
          </a:xfrm>
          <a:prstGeom prst="ellipse">
            <a:avLst/>
          </a:prstGeom>
          <a:solidFill>
            <a:srgbClr val="0F6FC6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494" name="Google Shape;494;p19"/>
          <p:cNvSpPr/>
          <p:nvPr/>
        </p:nvSpPr>
        <p:spPr>
          <a:xfrm>
            <a:off x="4169591" y="1795562"/>
            <a:ext cx="578734" cy="567160"/>
          </a:xfrm>
          <a:prstGeom prst="ellipse">
            <a:avLst/>
          </a:prstGeom>
          <a:solidFill>
            <a:srgbClr val="387025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95" name="Google Shape;495;p19"/>
          <p:cNvSpPr/>
          <p:nvPr/>
        </p:nvSpPr>
        <p:spPr>
          <a:xfrm>
            <a:off x="4169591" y="3677887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96" name="Google Shape;496;p19"/>
          <p:cNvSpPr/>
          <p:nvPr/>
        </p:nvSpPr>
        <p:spPr>
          <a:xfrm>
            <a:off x="5608701" y="2643041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97" name="Google Shape;497;p19"/>
          <p:cNvSpPr/>
          <p:nvPr/>
        </p:nvSpPr>
        <p:spPr>
          <a:xfrm>
            <a:off x="7053035" y="1719529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98" name="Google Shape;498;p19"/>
          <p:cNvSpPr/>
          <p:nvPr/>
        </p:nvSpPr>
        <p:spPr>
          <a:xfrm>
            <a:off x="7053035" y="3586698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99" name="Google Shape;499;p19"/>
          <p:cNvSpPr/>
          <p:nvPr/>
        </p:nvSpPr>
        <p:spPr>
          <a:xfrm>
            <a:off x="8538428" y="2565120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500" name="Google Shape;500;p19"/>
          <p:cNvCxnSpPr>
            <a:stCxn id="493" idx="6"/>
            <a:endCxn id="494" idx="4"/>
          </p:cNvCxnSpPr>
          <p:nvPr/>
        </p:nvCxnSpPr>
        <p:spPr>
          <a:xfrm flipH="1" rot="10800000">
            <a:off x="3315765" y="2362621"/>
            <a:ext cx="11433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19"/>
          <p:cNvCxnSpPr>
            <a:stCxn id="493" idx="6"/>
            <a:endCxn id="495" idx="0"/>
          </p:cNvCxnSpPr>
          <p:nvPr/>
        </p:nvCxnSpPr>
        <p:spPr>
          <a:xfrm>
            <a:off x="3315765" y="2926621"/>
            <a:ext cx="11433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19"/>
          <p:cNvCxnSpPr>
            <a:stCxn id="496" idx="2"/>
            <a:endCxn id="495" idx="0"/>
          </p:cNvCxnSpPr>
          <p:nvPr/>
        </p:nvCxnSpPr>
        <p:spPr>
          <a:xfrm flipH="1">
            <a:off x="4459101" y="2926621"/>
            <a:ext cx="11496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19"/>
          <p:cNvCxnSpPr>
            <a:stCxn id="494" idx="4"/>
            <a:endCxn id="496" idx="2"/>
          </p:cNvCxnSpPr>
          <p:nvPr/>
        </p:nvCxnSpPr>
        <p:spPr>
          <a:xfrm>
            <a:off x="4458958" y="2362722"/>
            <a:ext cx="11496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4" name="Google Shape;504;p19"/>
          <p:cNvCxnSpPr>
            <a:stCxn id="496" idx="6"/>
            <a:endCxn id="497" idx="4"/>
          </p:cNvCxnSpPr>
          <p:nvPr/>
        </p:nvCxnSpPr>
        <p:spPr>
          <a:xfrm flipH="1" rot="10800000">
            <a:off x="6187435" y="2286721"/>
            <a:ext cx="1155000" cy="63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p19"/>
          <p:cNvCxnSpPr>
            <a:stCxn id="496" idx="6"/>
            <a:endCxn id="498" idx="0"/>
          </p:cNvCxnSpPr>
          <p:nvPr/>
        </p:nvCxnSpPr>
        <p:spPr>
          <a:xfrm>
            <a:off x="6187435" y="2926621"/>
            <a:ext cx="1155000" cy="66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p19"/>
          <p:cNvCxnSpPr>
            <a:stCxn id="497" idx="4"/>
            <a:endCxn id="499" idx="2"/>
          </p:cNvCxnSpPr>
          <p:nvPr/>
        </p:nvCxnSpPr>
        <p:spPr>
          <a:xfrm>
            <a:off x="7342402" y="2286689"/>
            <a:ext cx="1196100" cy="561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7" name="Google Shape;507;p19"/>
          <p:cNvCxnSpPr>
            <a:stCxn id="498" idx="0"/>
            <a:endCxn id="499" idx="2"/>
          </p:cNvCxnSpPr>
          <p:nvPr/>
        </p:nvCxnSpPr>
        <p:spPr>
          <a:xfrm flipH="1" rot="10800000">
            <a:off x="7342402" y="2848698"/>
            <a:ext cx="1196100" cy="73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8" name="Google Shape;508;p19"/>
          <p:cNvSpPr txBox="1"/>
          <p:nvPr/>
        </p:nvSpPr>
        <p:spPr>
          <a:xfrm>
            <a:off x="3641102" y="229010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09" name="Google Shape;509;p19"/>
          <p:cNvSpPr txBox="1"/>
          <p:nvPr/>
        </p:nvSpPr>
        <p:spPr>
          <a:xfrm>
            <a:off x="3622248" y="323126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10" name="Google Shape;510;p19"/>
          <p:cNvSpPr txBox="1"/>
          <p:nvPr/>
        </p:nvSpPr>
        <p:spPr>
          <a:xfrm>
            <a:off x="4979090" y="325665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11" name="Google Shape;511;p19"/>
          <p:cNvSpPr txBox="1"/>
          <p:nvPr/>
        </p:nvSpPr>
        <p:spPr>
          <a:xfrm>
            <a:off x="5044652" y="231418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12" name="Google Shape;512;p19"/>
          <p:cNvSpPr txBox="1"/>
          <p:nvPr/>
        </p:nvSpPr>
        <p:spPr>
          <a:xfrm>
            <a:off x="6509516" y="229234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513" name="Google Shape;513;p19"/>
          <p:cNvSpPr txBox="1"/>
          <p:nvPr/>
        </p:nvSpPr>
        <p:spPr>
          <a:xfrm>
            <a:off x="6522604" y="3279102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514" name="Google Shape;514;p19"/>
          <p:cNvSpPr txBox="1"/>
          <p:nvPr/>
        </p:nvSpPr>
        <p:spPr>
          <a:xfrm>
            <a:off x="7975952" y="22793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15" name="Google Shape;515;p19"/>
          <p:cNvSpPr txBox="1"/>
          <p:nvPr/>
        </p:nvSpPr>
        <p:spPr>
          <a:xfrm>
            <a:off x="7986491" y="31535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aphicFrame>
        <p:nvGraphicFramePr>
          <p:cNvPr id="516" name="Google Shape;516;p19"/>
          <p:cNvGraphicFramePr/>
          <p:nvPr/>
        </p:nvGraphicFramePr>
        <p:xfrm>
          <a:off x="2820998" y="453006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Node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517" name="Google Shape;517;p19"/>
          <p:cNvSpPr txBox="1"/>
          <p:nvPr/>
        </p:nvSpPr>
        <p:spPr>
          <a:xfrm>
            <a:off x="8373279" y="3245235"/>
            <a:ext cx="3828677" cy="9233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518" name="Google Shape;518;p19"/>
          <p:cNvGraphicFramePr/>
          <p:nvPr/>
        </p:nvGraphicFramePr>
        <p:xfrm>
          <a:off x="2820998" y="52836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8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54A8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0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Algorithm Simulation</a:t>
            </a:r>
            <a:endParaRPr/>
          </a:p>
        </p:txBody>
      </p:sp>
      <p:sp>
        <p:nvSpPr>
          <p:cNvPr id="524" name="Google Shape;524;p20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Finally, mark 1 as visited.</a:t>
            </a:r>
            <a:endParaRPr/>
          </a:p>
        </p:txBody>
      </p:sp>
      <p:sp>
        <p:nvSpPr>
          <p:cNvPr id="525" name="Google Shape;525;p20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526" name="Google Shape;526;p20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527" name="Google Shape;527;p20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8" name="Google Shape;528;p20"/>
          <p:cNvSpPr/>
          <p:nvPr/>
        </p:nvSpPr>
        <p:spPr>
          <a:xfrm>
            <a:off x="2737031" y="2643041"/>
            <a:ext cx="578734" cy="567160"/>
          </a:xfrm>
          <a:prstGeom prst="ellipse">
            <a:avLst/>
          </a:prstGeom>
          <a:solidFill>
            <a:srgbClr val="0F6FC6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29" name="Google Shape;529;p20"/>
          <p:cNvSpPr/>
          <p:nvPr/>
        </p:nvSpPr>
        <p:spPr>
          <a:xfrm>
            <a:off x="4169591" y="1795562"/>
            <a:ext cx="578734" cy="567160"/>
          </a:xfrm>
          <a:prstGeom prst="ellipse">
            <a:avLst/>
          </a:prstGeom>
          <a:solidFill>
            <a:srgbClr val="387025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30" name="Google Shape;530;p20"/>
          <p:cNvSpPr/>
          <p:nvPr/>
        </p:nvSpPr>
        <p:spPr>
          <a:xfrm>
            <a:off x="4169591" y="3677887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31" name="Google Shape;531;p20"/>
          <p:cNvSpPr/>
          <p:nvPr/>
        </p:nvSpPr>
        <p:spPr>
          <a:xfrm>
            <a:off x="5608701" y="2643041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32" name="Google Shape;532;p20"/>
          <p:cNvSpPr/>
          <p:nvPr/>
        </p:nvSpPr>
        <p:spPr>
          <a:xfrm>
            <a:off x="7053035" y="1719529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33" name="Google Shape;533;p20"/>
          <p:cNvSpPr/>
          <p:nvPr/>
        </p:nvSpPr>
        <p:spPr>
          <a:xfrm>
            <a:off x="7053035" y="3586698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34" name="Google Shape;534;p20"/>
          <p:cNvSpPr/>
          <p:nvPr/>
        </p:nvSpPr>
        <p:spPr>
          <a:xfrm>
            <a:off x="8538428" y="2565120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535" name="Google Shape;535;p20"/>
          <p:cNvCxnSpPr>
            <a:stCxn id="528" idx="6"/>
            <a:endCxn id="529" idx="4"/>
          </p:cNvCxnSpPr>
          <p:nvPr/>
        </p:nvCxnSpPr>
        <p:spPr>
          <a:xfrm flipH="1" rot="10800000">
            <a:off x="3315765" y="2362621"/>
            <a:ext cx="11433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6" name="Google Shape;536;p20"/>
          <p:cNvCxnSpPr>
            <a:stCxn id="528" idx="6"/>
            <a:endCxn id="530" idx="0"/>
          </p:cNvCxnSpPr>
          <p:nvPr/>
        </p:nvCxnSpPr>
        <p:spPr>
          <a:xfrm>
            <a:off x="3315765" y="2926621"/>
            <a:ext cx="11433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7" name="Google Shape;537;p20"/>
          <p:cNvCxnSpPr>
            <a:stCxn id="531" idx="2"/>
            <a:endCxn id="530" idx="0"/>
          </p:cNvCxnSpPr>
          <p:nvPr/>
        </p:nvCxnSpPr>
        <p:spPr>
          <a:xfrm flipH="1">
            <a:off x="4459101" y="2926621"/>
            <a:ext cx="11496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8" name="Google Shape;538;p20"/>
          <p:cNvCxnSpPr>
            <a:stCxn id="529" idx="4"/>
            <a:endCxn id="531" idx="2"/>
          </p:cNvCxnSpPr>
          <p:nvPr/>
        </p:nvCxnSpPr>
        <p:spPr>
          <a:xfrm>
            <a:off x="4458958" y="2362722"/>
            <a:ext cx="11496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9" name="Google Shape;539;p20"/>
          <p:cNvCxnSpPr>
            <a:stCxn id="531" idx="6"/>
            <a:endCxn id="532" idx="4"/>
          </p:cNvCxnSpPr>
          <p:nvPr/>
        </p:nvCxnSpPr>
        <p:spPr>
          <a:xfrm flipH="1" rot="10800000">
            <a:off x="6187435" y="2286721"/>
            <a:ext cx="1155000" cy="63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0" name="Google Shape;540;p20"/>
          <p:cNvCxnSpPr>
            <a:stCxn id="531" idx="6"/>
            <a:endCxn id="533" idx="0"/>
          </p:cNvCxnSpPr>
          <p:nvPr/>
        </p:nvCxnSpPr>
        <p:spPr>
          <a:xfrm>
            <a:off x="6187435" y="2926621"/>
            <a:ext cx="1155000" cy="66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1" name="Google Shape;541;p20"/>
          <p:cNvCxnSpPr>
            <a:stCxn id="532" idx="4"/>
            <a:endCxn id="534" idx="2"/>
          </p:cNvCxnSpPr>
          <p:nvPr/>
        </p:nvCxnSpPr>
        <p:spPr>
          <a:xfrm>
            <a:off x="7342402" y="2286689"/>
            <a:ext cx="1196100" cy="561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2" name="Google Shape;542;p20"/>
          <p:cNvCxnSpPr>
            <a:stCxn id="533" idx="0"/>
            <a:endCxn id="534" idx="2"/>
          </p:cNvCxnSpPr>
          <p:nvPr/>
        </p:nvCxnSpPr>
        <p:spPr>
          <a:xfrm flipH="1" rot="10800000">
            <a:off x="7342402" y="2848698"/>
            <a:ext cx="1196100" cy="73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3" name="Google Shape;543;p20"/>
          <p:cNvSpPr txBox="1"/>
          <p:nvPr/>
        </p:nvSpPr>
        <p:spPr>
          <a:xfrm>
            <a:off x="3641102" y="229010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44" name="Google Shape;544;p20"/>
          <p:cNvSpPr txBox="1"/>
          <p:nvPr/>
        </p:nvSpPr>
        <p:spPr>
          <a:xfrm>
            <a:off x="3622248" y="323126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45" name="Google Shape;545;p20"/>
          <p:cNvSpPr txBox="1"/>
          <p:nvPr/>
        </p:nvSpPr>
        <p:spPr>
          <a:xfrm>
            <a:off x="4979090" y="325665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46" name="Google Shape;546;p20"/>
          <p:cNvSpPr txBox="1"/>
          <p:nvPr/>
        </p:nvSpPr>
        <p:spPr>
          <a:xfrm>
            <a:off x="5044652" y="231418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47" name="Google Shape;547;p20"/>
          <p:cNvSpPr txBox="1"/>
          <p:nvPr/>
        </p:nvSpPr>
        <p:spPr>
          <a:xfrm>
            <a:off x="6509516" y="2292345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548" name="Google Shape;548;p20"/>
          <p:cNvSpPr txBox="1"/>
          <p:nvPr/>
        </p:nvSpPr>
        <p:spPr>
          <a:xfrm>
            <a:off x="6522604" y="3279102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549" name="Google Shape;549;p20"/>
          <p:cNvSpPr txBox="1"/>
          <p:nvPr/>
        </p:nvSpPr>
        <p:spPr>
          <a:xfrm>
            <a:off x="7975952" y="227936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50" name="Google Shape;550;p20"/>
          <p:cNvSpPr txBox="1"/>
          <p:nvPr/>
        </p:nvSpPr>
        <p:spPr>
          <a:xfrm>
            <a:off x="7986491" y="315353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aphicFrame>
        <p:nvGraphicFramePr>
          <p:cNvPr id="551" name="Google Shape;551;p20"/>
          <p:cNvGraphicFramePr/>
          <p:nvPr/>
        </p:nvGraphicFramePr>
        <p:xfrm>
          <a:off x="2820998" y="4530066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Node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552" name="Google Shape;552;p20"/>
          <p:cNvGraphicFramePr/>
          <p:nvPr/>
        </p:nvGraphicFramePr>
        <p:xfrm>
          <a:off x="2820997" y="49009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54A8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1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Algorithm Simulation</a:t>
            </a:r>
            <a:endParaRPr/>
          </a:p>
        </p:txBody>
      </p:sp>
      <p:sp>
        <p:nvSpPr>
          <p:cNvPr id="558" name="Google Shape;558;p21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559" name="Google Shape;559;p21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560" name="Google Shape;560;p21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1" name="Google Shape;561;p21"/>
          <p:cNvSpPr/>
          <p:nvPr/>
        </p:nvSpPr>
        <p:spPr>
          <a:xfrm>
            <a:off x="5525202" y="2520993"/>
            <a:ext cx="578734" cy="567160"/>
          </a:xfrm>
          <a:prstGeom prst="ellipse">
            <a:avLst/>
          </a:prstGeom>
          <a:solidFill>
            <a:srgbClr val="0F6FC6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562" name="Google Shape;562;p21"/>
          <p:cNvSpPr/>
          <p:nvPr/>
        </p:nvSpPr>
        <p:spPr>
          <a:xfrm>
            <a:off x="6957762" y="1673514"/>
            <a:ext cx="578734" cy="567160"/>
          </a:xfrm>
          <a:prstGeom prst="ellipse">
            <a:avLst/>
          </a:prstGeom>
          <a:solidFill>
            <a:srgbClr val="0F6FC6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63" name="Google Shape;563;p21"/>
          <p:cNvSpPr/>
          <p:nvPr/>
        </p:nvSpPr>
        <p:spPr>
          <a:xfrm>
            <a:off x="6957762" y="3555839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64" name="Google Shape;564;p21"/>
          <p:cNvSpPr/>
          <p:nvPr/>
        </p:nvSpPr>
        <p:spPr>
          <a:xfrm>
            <a:off x="8396872" y="2520993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65" name="Google Shape;565;p21"/>
          <p:cNvSpPr/>
          <p:nvPr/>
        </p:nvSpPr>
        <p:spPr>
          <a:xfrm>
            <a:off x="9841206" y="1597481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66" name="Google Shape;566;p21"/>
          <p:cNvSpPr/>
          <p:nvPr/>
        </p:nvSpPr>
        <p:spPr>
          <a:xfrm>
            <a:off x="9841206" y="3464650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67" name="Google Shape;567;p21"/>
          <p:cNvSpPr/>
          <p:nvPr/>
        </p:nvSpPr>
        <p:spPr>
          <a:xfrm>
            <a:off x="11326599" y="2443072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568" name="Google Shape;568;p21"/>
          <p:cNvCxnSpPr>
            <a:stCxn id="561" idx="6"/>
            <a:endCxn id="562" idx="4"/>
          </p:cNvCxnSpPr>
          <p:nvPr/>
        </p:nvCxnSpPr>
        <p:spPr>
          <a:xfrm flipH="1" rot="10800000">
            <a:off x="6103936" y="2240573"/>
            <a:ext cx="11433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9" name="Google Shape;569;p21"/>
          <p:cNvCxnSpPr>
            <a:stCxn id="561" idx="6"/>
            <a:endCxn id="563" idx="0"/>
          </p:cNvCxnSpPr>
          <p:nvPr/>
        </p:nvCxnSpPr>
        <p:spPr>
          <a:xfrm>
            <a:off x="6103936" y="2804573"/>
            <a:ext cx="11433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0" name="Google Shape;570;p21"/>
          <p:cNvCxnSpPr>
            <a:stCxn id="564" idx="2"/>
            <a:endCxn id="563" idx="0"/>
          </p:cNvCxnSpPr>
          <p:nvPr/>
        </p:nvCxnSpPr>
        <p:spPr>
          <a:xfrm flipH="1">
            <a:off x="7247272" y="2804573"/>
            <a:ext cx="11496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1" name="Google Shape;571;p21"/>
          <p:cNvCxnSpPr>
            <a:stCxn id="562" idx="4"/>
            <a:endCxn id="564" idx="2"/>
          </p:cNvCxnSpPr>
          <p:nvPr/>
        </p:nvCxnSpPr>
        <p:spPr>
          <a:xfrm>
            <a:off x="7247129" y="2240674"/>
            <a:ext cx="11496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2" name="Google Shape;572;p21"/>
          <p:cNvCxnSpPr>
            <a:stCxn id="564" idx="6"/>
            <a:endCxn id="565" idx="4"/>
          </p:cNvCxnSpPr>
          <p:nvPr/>
        </p:nvCxnSpPr>
        <p:spPr>
          <a:xfrm flipH="1" rot="10800000">
            <a:off x="8975606" y="2164673"/>
            <a:ext cx="1155000" cy="63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3" name="Google Shape;573;p21"/>
          <p:cNvCxnSpPr>
            <a:stCxn id="564" idx="6"/>
            <a:endCxn id="566" idx="0"/>
          </p:cNvCxnSpPr>
          <p:nvPr/>
        </p:nvCxnSpPr>
        <p:spPr>
          <a:xfrm>
            <a:off x="8975606" y="2804573"/>
            <a:ext cx="1155000" cy="66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4" name="Google Shape;574;p21"/>
          <p:cNvCxnSpPr>
            <a:stCxn id="565" idx="4"/>
            <a:endCxn id="567" idx="2"/>
          </p:cNvCxnSpPr>
          <p:nvPr/>
        </p:nvCxnSpPr>
        <p:spPr>
          <a:xfrm>
            <a:off x="10130573" y="2164641"/>
            <a:ext cx="1196100" cy="561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5" name="Google Shape;575;p21"/>
          <p:cNvCxnSpPr>
            <a:stCxn id="566" idx="0"/>
            <a:endCxn id="567" idx="2"/>
          </p:cNvCxnSpPr>
          <p:nvPr/>
        </p:nvCxnSpPr>
        <p:spPr>
          <a:xfrm flipH="1" rot="10800000">
            <a:off x="10130573" y="2726650"/>
            <a:ext cx="1196100" cy="73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6" name="Google Shape;576;p21"/>
          <p:cNvSpPr txBox="1"/>
          <p:nvPr/>
        </p:nvSpPr>
        <p:spPr>
          <a:xfrm>
            <a:off x="6429273" y="216805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77" name="Google Shape;577;p21"/>
          <p:cNvSpPr txBox="1"/>
          <p:nvPr/>
        </p:nvSpPr>
        <p:spPr>
          <a:xfrm>
            <a:off x="6410419" y="310921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78" name="Google Shape;578;p21"/>
          <p:cNvSpPr txBox="1"/>
          <p:nvPr/>
        </p:nvSpPr>
        <p:spPr>
          <a:xfrm>
            <a:off x="7767261" y="313461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79" name="Google Shape;579;p21"/>
          <p:cNvSpPr txBox="1"/>
          <p:nvPr/>
        </p:nvSpPr>
        <p:spPr>
          <a:xfrm>
            <a:off x="7832823" y="219213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80" name="Google Shape;580;p21"/>
          <p:cNvSpPr txBox="1"/>
          <p:nvPr/>
        </p:nvSpPr>
        <p:spPr>
          <a:xfrm>
            <a:off x="9297687" y="2170297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581" name="Google Shape;581;p21"/>
          <p:cNvSpPr txBox="1"/>
          <p:nvPr/>
        </p:nvSpPr>
        <p:spPr>
          <a:xfrm>
            <a:off x="9310775" y="315705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582" name="Google Shape;582;p21"/>
          <p:cNvSpPr txBox="1"/>
          <p:nvPr/>
        </p:nvSpPr>
        <p:spPr>
          <a:xfrm>
            <a:off x="10764123" y="215731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83" name="Google Shape;583;p21"/>
          <p:cNvSpPr txBox="1"/>
          <p:nvPr/>
        </p:nvSpPr>
        <p:spPr>
          <a:xfrm>
            <a:off x="10774662" y="30314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aphicFrame>
        <p:nvGraphicFramePr>
          <p:cNvPr id="584" name="Google Shape;584;p21"/>
          <p:cNvGraphicFramePr/>
          <p:nvPr/>
        </p:nvGraphicFramePr>
        <p:xfrm>
          <a:off x="2257418" y="487426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Node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585" name="Google Shape;585;p21"/>
          <p:cNvGraphicFramePr/>
          <p:nvPr/>
        </p:nvGraphicFramePr>
        <p:xfrm>
          <a:off x="2257417" y="52451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 anchor="ctr"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 anchor="ctr"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 anchor="ctr"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586" name="Google Shape;586;p21"/>
          <p:cNvGraphicFramePr/>
          <p:nvPr/>
        </p:nvGraphicFramePr>
        <p:xfrm>
          <a:off x="772824" y="97700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1607450"/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Current Node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87" name="Google Shape;587;p21"/>
          <p:cNvGraphicFramePr/>
          <p:nvPr/>
        </p:nvGraphicFramePr>
        <p:xfrm>
          <a:off x="772824" y="167351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1607450"/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Neighbor Node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588" name="Google Shape;588;p21"/>
          <p:cNvGraphicFramePr/>
          <p:nvPr/>
        </p:nvGraphicFramePr>
        <p:xfrm>
          <a:off x="2380265" y="976663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589" name="Google Shape;589;p21"/>
          <p:cNvGraphicFramePr/>
          <p:nvPr/>
        </p:nvGraphicFramePr>
        <p:xfrm>
          <a:off x="2380264" y="1673168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590" name="Google Shape;590;p21"/>
          <p:cNvSpPr txBox="1"/>
          <p:nvPr/>
        </p:nvSpPr>
        <p:spPr>
          <a:xfrm>
            <a:off x="1047162" y="3095651"/>
            <a:ext cx="3828677" cy="9233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591" name="Google Shape;591;p21"/>
          <p:cNvGraphicFramePr/>
          <p:nvPr/>
        </p:nvGraphicFramePr>
        <p:xfrm>
          <a:off x="2257416" y="56025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592" name="Google Shape;592;p21"/>
          <p:cNvSpPr txBox="1"/>
          <p:nvPr/>
        </p:nvSpPr>
        <p:spPr>
          <a:xfrm>
            <a:off x="492598" y="3985711"/>
            <a:ext cx="20483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more neighbors.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 2 as visited.</a:t>
            </a:r>
            <a:endParaRPr/>
          </a:p>
        </p:txBody>
      </p:sp>
      <p:graphicFrame>
        <p:nvGraphicFramePr>
          <p:cNvPr id="593" name="Google Shape;593;p21"/>
          <p:cNvGraphicFramePr/>
          <p:nvPr/>
        </p:nvGraphicFramePr>
        <p:xfrm>
          <a:off x="2257416" y="523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T="45725" marB="45725" marR="91450" marL="91450" anchor="ctr"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 anchor="ctr"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T="45725" marB="45725" marR="91450" marL="91450" anchor="ctr">
                    <a:solidFill>
                      <a:srgbClr val="E7EB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22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Algorithm Simulation</a:t>
            </a:r>
            <a:endParaRPr/>
          </a:p>
        </p:txBody>
      </p:sp>
      <p:sp>
        <p:nvSpPr>
          <p:cNvPr id="599" name="Google Shape;599;p22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600" name="Google Shape;600;p22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601" name="Google Shape;601;p22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2" name="Google Shape;602;p22"/>
          <p:cNvSpPr/>
          <p:nvPr/>
        </p:nvSpPr>
        <p:spPr>
          <a:xfrm>
            <a:off x="5525202" y="2520993"/>
            <a:ext cx="578734" cy="567160"/>
          </a:xfrm>
          <a:prstGeom prst="ellipse">
            <a:avLst/>
          </a:prstGeom>
          <a:solidFill>
            <a:srgbClr val="0F6FC6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03" name="Google Shape;603;p22"/>
          <p:cNvSpPr/>
          <p:nvPr/>
        </p:nvSpPr>
        <p:spPr>
          <a:xfrm>
            <a:off x="6957762" y="1673514"/>
            <a:ext cx="578734" cy="567160"/>
          </a:xfrm>
          <a:prstGeom prst="ellipse">
            <a:avLst/>
          </a:prstGeom>
          <a:solidFill>
            <a:srgbClr val="0F6FC6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04" name="Google Shape;604;p22"/>
          <p:cNvSpPr/>
          <p:nvPr/>
        </p:nvSpPr>
        <p:spPr>
          <a:xfrm>
            <a:off x="6957762" y="3555839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05" name="Google Shape;605;p22"/>
          <p:cNvSpPr/>
          <p:nvPr/>
        </p:nvSpPr>
        <p:spPr>
          <a:xfrm>
            <a:off x="8396872" y="2520993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06" name="Google Shape;606;p22"/>
          <p:cNvSpPr/>
          <p:nvPr/>
        </p:nvSpPr>
        <p:spPr>
          <a:xfrm>
            <a:off x="9841206" y="1597481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07" name="Google Shape;607;p22"/>
          <p:cNvSpPr/>
          <p:nvPr/>
        </p:nvSpPr>
        <p:spPr>
          <a:xfrm>
            <a:off x="9841206" y="3464650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08" name="Google Shape;608;p22"/>
          <p:cNvSpPr/>
          <p:nvPr/>
        </p:nvSpPr>
        <p:spPr>
          <a:xfrm>
            <a:off x="11326599" y="2443072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609" name="Google Shape;609;p22"/>
          <p:cNvCxnSpPr>
            <a:stCxn id="602" idx="6"/>
            <a:endCxn id="603" idx="4"/>
          </p:cNvCxnSpPr>
          <p:nvPr/>
        </p:nvCxnSpPr>
        <p:spPr>
          <a:xfrm flipH="1" rot="10800000">
            <a:off x="6103936" y="2240573"/>
            <a:ext cx="11433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0" name="Google Shape;610;p22"/>
          <p:cNvCxnSpPr>
            <a:stCxn id="602" idx="6"/>
            <a:endCxn id="604" idx="0"/>
          </p:cNvCxnSpPr>
          <p:nvPr/>
        </p:nvCxnSpPr>
        <p:spPr>
          <a:xfrm>
            <a:off x="6103936" y="2804573"/>
            <a:ext cx="11433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1" name="Google Shape;611;p22"/>
          <p:cNvCxnSpPr>
            <a:stCxn id="605" idx="2"/>
            <a:endCxn id="604" idx="0"/>
          </p:cNvCxnSpPr>
          <p:nvPr/>
        </p:nvCxnSpPr>
        <p:spPr>
          <a:xfrm flipH="1">
            <a:off x="7247272" y="2804573"/>
            <a:ext cx="11496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2" name="Google Shape;612;p22"/>
          <p:cNvCxnSpPr>
            <a:stCxn id="603" idx="4"/>
            <a:endCxn id="605" idx="2"/>
          </p:cNvCxnSpPr>
          <p:nvPr/>
        </p:nvCxnSpPr>
        <p:spPr>
          <a:xfrm>
            <a:off x="7247129" y="2240674"/>
            <a:ext cx="11496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3" name="Google Shape;613;p22"/>
          <p:cNvCxnSpPr>
            <a:stCxn id="605" idx="6"/>
            <a:endCxn id="606" idx="4"/>
          </p:cNvCxnSpPr>
          <p:nvPr/>
        </p:nvCxnSpPr>
        <p:spPr>
          <a:xfrm flipH="1" rot="10800000">
            <a:off x="8975606" y="2164673"/>
            <a:ext cx="1155000" cy="63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4" name="Google Shape;614;p22"/>
          <p:cNvCxnSpPr>
            <a:stCxn id="605" idx="6"/>
            <a:endCxn id="607" idx="0"/>
          </p:cNvCxnSpPr>
          <p:nvPr/>
        </p:nvCxnSpPr>
        <p:spPr>
          <a:xfrm>
            <a:off x="8975606" y="2804573"/>
            <a:ext cx="1155000" cy="66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5" name="Google Shape;615;p22"/>
          <p:cNvCxnSpPr>
            <a:stCxn id="606" idx="4"/>
            <a:endCxn id="608" idx="2"/>
          </p:cNvCxnSpPr>
          <p:nvPr/>
        </p:nvCxnSpPr>
        <p:spPr>
          <a:xfrm>
            <a:off x="10130573" y="2164641"/>
            <a:ext cx="1196100" cy="561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6" name="Google Shape;616;p22"/>
          <p:cNvCxnSpPr>
            <a:stCxn id="607" idx="0"/>
            <a:endCxn id="608" idx="2"/>
          </p:cNvCxnSpPr>
          <p:nvPr/>
        </p:nvCxnSpPr>
        <p:spPr>
          <a:xfrm flipH="1" rot="10800000">
            <a:off x="10130573" y="2726650"/>
            <a:ext cx="1196100" cy="73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17" name="Google Shape;617;p22"/>
          <p:cNvSpPr txBox="1"/>
          <p:nvPr/>
        </p:nvSpPr>
        <p:spPr>
          <a:xfrm>
            <a:off x="6429273" y="216805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18" name="Google Shape;618;p22"/>
          <p:cNvSpPr txBox="1"/>
          <p:nvPr/>
        </p:nvSpPr>
        <p:spPr>
          <a:xfrm>
            <a:off x="6410419" y="310921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19" name="Google Shape;619;p22"/>
          <p:cNvSpPr txBox="1"/>
          <p:nvPr/>
        </p:nvSpPr>
        <p:spPr>
          <a:xfrm>
            <a:off x="7767261" y="313461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20" name="Google Shape;620;p22"/>
          <p:cNvSpPr txBox="1"/>
          <p:nvPr/>
        </p:nvSpPr>
        <p:spPr>
          <a:xfrm>
            <a:off x="7832823" y="219213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21" name="Google Shape;621;p22"/>
          <p:cNvSpPr txBox="1"/>
          <p:nvPr/>
        </p:nvSpPr>
        <p:spPr>
          <a:xfrm>
            <a:off x="9297687" y="2170297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622" name="Google Shape;622;p22"/>
          <p:cNvSpPr txBox="1"/>
          <p:nvPr/>
        </p:nvSpPr>
        <p:spPr>
          <a:xfrm>
            <a:off x="9310775" y="315705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623" name="Google Shape;623;p22"/>
          <p:cNvSpPr txBox="1"/>
          <p:nvPr/>
        </p:nvSpPr>
        <p:spPr>
          <a:xfrm>
            <a:off x="10764123" y="215731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24" name="Google Shape;624;p22"/>
          <p:cNvSpPr txBox="1"/>
          <p:nvPr/>
        </p:nvSpPr>
        <p:spPr>
          <a:xfrm>
            <a:off x="10774662" y="30314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aphicFrame>
        <p:nvGraphicFramePr>
          <p:cNvPr id="625" name="Google Shape;625;p22"/>
          <p:cNvGraphicFramePr/>
          <p:nvPr/>
        </p:nvGraphicFramePr>
        <p:xfrm>
          <a:off x="2257418" y="487426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Node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626" name="Google Shape;626;p22"/>
          <p:cNvGraphicFramePr/>
          <p:nvPr/>
        </p:nvGraphicFramePr>
        <p:xfrm>
          <a:off x="772824" y="97700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1607450"/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Current Node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27" name="Google Shape;627;p22"/>
          <p:cNvGraphicFramePr/>
          <p:nvPr/>
        </p:nvGraphicFramePr>
        <p:xfrm>
          <a:off x="772824" y="167351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1607450"/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Neighbor Node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28" name="Google Shape;628;p22"/>
          <p:cNvGraphicFramePr/>
          <p:nvPr/>
        </p:nvGraphicFramePr>
        <p:xfrm>
          <a:off x="2380265" y="972187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629" name="Google Shape;629;p22"/>
          <p:cNvGraphicFramePr/>
          <p:nvPr/>
        </p:nvGraphicFramePr>
        <p:xfrm>
          <a:off x="2380264" y="167351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630" name="Google Shape;630;p22"/>
          <p:cNvSpPr txBox="1"/>
          <p:nvPr/>
        </p:nvSpPr>
        <p:spPr>
          <a:xfrm>
            <a:off x="1047162" y="3095651"/>
            <a:ext cx="3877536" cy="9233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631" name="Google Shape;631;p22"/>
          <p:cNvGraphicFramePr/>
          <p:nvPr/>
        </p:nvGraphicFramePr>
        <p:xfrm>
          <a:off x="2257418" y="56248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632" name="Google Shape;632;p22"/>
          <p:cNvGraphicFramePr/>
          <p:nvPr/>
        </p:nvGraphicFramePr>
        <p:xfrm>
          <a:off x="2380263" y="167351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633" name="Google Shape;633;p22"/>
          <p:cNvSpPr txBox="1"/>
          <p:nvPr/>
        </p:nvSpPr>
        <p:spPr>
          <a:xfrm>
            <a:off x="1059764" y="3108480"/>
            <a:ext cx="3944093" cy="92333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634" name="Google Shape;634;p22"/>
          <p:cNvGraphicFramePr/>
          <p:nvPr/>
        </p:nvGraphicFramePr>
        <p:xfrm>
          <a:off x="2257418" y="56159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635" name="Google Shape;635;p22"/>
          <p:cNvGraphicFramePr/>
          <p:nvPr/>
        </p:nvGraphicFramePr>
        <p:xfrm>
          <a:off x="2257418" y="52272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3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Algorithm Simulation</a:t>
            </a:r>
            <a:endParaRPr/>
          </a:p>
        </p:txBody>
      </p:sp>
      <p:sp>
        <p:nvSpPr>
          <p:cNvPr id="641" name="Google Shape;641;p23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642" name="Google Shape;642;p23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643" name="Google Shape;643;p23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4" name="Google Shape;644;p23"/>
          <p:cNvSpPr/>
          <p:nvPr/>
        </p:nvSpPr>
        <p:spPr>
          <a:xfrm>
            <a:off x="5525202" y="2520993"/>
            <a:ext cx="578734" cy="567160"/>
          </a:xfrm>
          <a:prstGeom prst="ellipse">
            <a:avLst/>
          </a:prstGeom>
          <a:solidFill>
            <a:srgbClr val="0F6FC6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45" name="Google Shape;645;p23"/>
          <p:cNvSpPr/>
          <p:nvPr/>
        </p:nvSpPr>
        <p:spPr>
          <a:xfrm>
            <a:off x="6957762" y="1673514"/>
            <a:ext cx="578734" cy="567160"/>
          </a:xfrm>
          <a:prstGeom prst="ellipse">
            <a:avLst/>
          </a:prstGeom>
          <a:solidFill>
            <a:srgbClr val="0F6FC6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46" name="Google Shape;646;p23"/>
          <p:cNvSpPr/>
          <p:nvPr/>
        </p:nvSpPr>
        <p:spPr>
          <a:xfrm>
            <a:off x="6957762" y="3555839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47" name="Google Shape;647;p23"/>
          <p:cNvSpPr/>
          <p:nvPr/>
        </p:nvSpPr>
        <p:spPr>
          <a:xfrm>
            <a:off x="8396872" y="2520993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48" name="Google Shape;648;p23"/>
          <p:cNvSpPr/>
          <p:nvPr/>
        </p:nvSpPr>
        <p:spPr>
          <a:xfrm>
            <a:off x="9841206" y="1597481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49" name="Google Shape;649;p23"/>
          <p:cNvSpPr/>
          <p:nvPr/>
        </p:nvSpPr>
        <p:spPr>
          <a:xfrm>
            <a:off x="9841206" y="3464650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50" name="Google Shape;650;p23"/>
          <p:cNvSpPr/>
          <p:nvPr/>
        </p:nvSpPr>
        <p:spPr>
          <a:xfrm>
            <a:off x="11326599" y="2443072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651" name="Google Shape;651;p23"/>
          <p:cNvCxnSpPr>
            <a:stCxn id="644" idx="6"/>
            <a:endCxn id="645" idx="4"/>
          </p:cNvCxnSpPr>
          <p:nvPr/>
        </p:nvCxnSpPr>
        <p:spPr>
          <a:xfrm flipH="1" rot="10800000">
            <a:off x="6103936" y="2240573"/>
            <a:ext cx="11433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p23"/>
          <p:cNvCxnSpPr>
            <a:stCxn id="644" idx="6"/>
            <a:endCxn id="646" idx="0"/>
          </p:cNvCxnSpPr>
          <p:nvPr/>
        </p:nvCxnSpPr>
        <p:spPr>
          <a:xfrm>
            <a:off x="6103936" y="2804573"/>
            <a:ext cx="11433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23"/>
          <p:cNvCxnSpPr>
            <a:stCxn id="647" idx="2"/>
            <a:endCxn id="646" idx="0"/>
          </p:cNvCxnSpPr>
          <p:nvPr/>
        </p:nvCxnSpPr>
        <p:spPr>
          <a:xfrm flipH="1">
            <a:off x="7247272" y="2804573"/>
            <a:ext cx="11496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23"/>
          <p:cNvCxnSpPr>
            <a:stCxn id="645" idx="4"/>
            <a:endCxn id="647" idx="2"/>
          </p:cNvCxnSpPr>
          <p:nvPr/>
        </p:nvCxnSpPr>
        <p:spPr>
          <a:xfrm>
            <a:off x="7247129" y="2240674"/>
            <a:ext cx="11496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23"/>
          <p:cNvCxnSpPr>
            <a:stCxn id="647" idx="6"/>
            <a:endCxn id="648" idx="4"/>
          </p:cNvCxnSpPr>
          <p:nvPr/>
        </p:nvCxnSpPr>
        <p:spPr>
          <a:xfrm flipH="1" rot="10800000">
            <a:off x="8975606" y="2164673"/>
            <a:ext cx="1155000" cy="63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23"/>
          <p:cNvCxnSpPr>
            <a:stCxn id="647" idx="6"/>
            <a:endCxn id="649" idx="0"/>
          </p:cNvCxnSpPr>
          <p:nvPr/>
        </p:nvCxnSpPr>
        <p:spPr>
          <a:xfrm>
            <a:off x="8975606" y="2804573"/>
            <a:ext cx="1155000" cy="66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7" name="Google Shape;657;p23"/>
          <p:cNvCxnSpPr>
            <a:stCxn id="648" idx="4"/>
            <a:endCxn id="650" idx="2"/>
          </p:cNvCxnSpPr>
          <p:nvPr/>
        </p:nvCxnSpPr>
        <p:spPr>
          <a:xfrm>
            <a:off x="10130573" y="2164641"/>
            <a:ext cx="1196100" cy="561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8" name="Google Shape;658;p23"/>
          <p:cNvCxnSpPr>
            <a:stCxn id="649" idx="0"/>
            <a:endCxn id="650" idx="2"/>
          </p:cNvCxnSpPr>
          <p:nvPr/>
        </p:nvCxnSpPr>
        <p:spPr>
          <a:xfrm flipH="1" rot="10800000">
            <a:off x="10130573" y="2726650"/>
            <a:ext cx="1196100" cy="73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9" name="Google Shape;659;p23"/>
          <p:cNvSpPr txBox="1"/>
          <p:nvPr/>
        </p:nvSpPr>
        <p:spPr>
          <a:xfrm>
            <a:off x="6429273" y="216805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60" name="Google Shape;660;p23"/>
          <p:cNvSpPr txBox="1"/>
          <p:nvPr/>
        </p:nvSpPr>
        <p:spPr>
          <a:xfrm>
            <a:off x="6410419" y="310921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61" name="Google Shape;661;p23"/>
          <p:cNvSpPr txBox="1"/>
          <p:nvPr/>
        </p:nvSpPr>
        <p:spPr>
          <a:xfrm>
            <a:off x="7767261" y="313461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62" name="Google Shape;662;p23"/>
          <p:cNvSpPr txBox="1"/>
          <p:nvPr/>
        </p:nvSpPr>
        <p:spPr>
          <a:xfrm>
            <a:off x="7832823" y="219213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63" name="Google Shape;663;p23"/>
          <p:cNvSpPr txBox="1"/>
          <p:nvPr/>
        </p:nvSpPr>
        <p:spPr>
          <a:xfrm>
            <a:off x="9297687" y="2170297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664" name="Google Shape;664;p23"/>
          <p:cNvSpPr txBox="1"/>
          <p:nvPr/>
        </p:nvSpPr>
        <p:spPr>
          <a:xfrm>
            <a:off x="9310775" y="315705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665" name="Google Shape;665;p23"/>
          <p:cNvSpPr txBox="1"/>
          <p:nvPr/>
        </p:nvSpPr>
        <p:spPr>
          <a:xfrm>
            <a:off x="10764123" y="215731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66" name="Google Shape;666;p23"/>
          <p:cNvSpPr txBox="1"/>
          <p:nvPr/>
        </p:nvSpPr>
        <p:spPr>
          <a:xfrm>
            <a:off x="10774662" y="30314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aphicFrame>
        <p:nvGraphicFramePr>
          <p:cNvPr id="667" name="Google Shape;667;p23"/>
          <p:cNvGraphicFramePr/>
          <p:nvPr/>
        </p:nvGraphicFramePr>
        <p:xfrm>
          <a:off x="2257418" y="487426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Node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668" name="Google Shape;668;p23"/>
          <p:cNvGraphicFramePr/>
          <p:nvPr/>
        </p:nvGraphicFramePr>
        <p:xfrm>
          <a:off x="772824" y="97700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1607450"/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Current Node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669" name="Google Shape;669;p23"/>
          <p:cNvGraphicFramePr/>
          <p:nvPr/>
        </p:nvGraphicFramePr>
        <p:xfrm>
          <a:off x="772824" y="167351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1607450"/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Neighbor Node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70" name="Google Shape;670;p23"/>
          <p:cNvSpPr txBox="1"/>
          <p:nvPr/>
        </p:nvSpPr>
        <p:spPr>
          <a:xfrm>
            <a:off x="1047162" y="3095651"/>
            <a:ext cx="3779753" cy="9233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671" name="Google Shape;671;p23"/>
          <p:cNvGraphicFramePr/>
          <p:nvPr/>
        </p:nvGraphicFramePr>
        <p:xfrm>
          <a:off x="2380265" y="977826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672" name="Google Shape;672;p23"/>
          <p:cNvGraphicFramePr/>
          <p:nvPr/>
        </p:nvGraphicFramePr>
        <p:xfrm>
          <a:off x="2380265" y="166549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673" name="Google Shape;673;p23"/>
          <p:cNvGraphicFramePr/>
          <p:nvPr/>
        </p:nvGraphicFramePr>
        <p:xfrm>
          <a:off x="2257418" y="56159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674" name="Google Shape;674;p23"/>
          <p:cNvGraphicFramePr/>
          <p:nvPr/>
        </p:nvGraphicFramePr>
        <p:xfrm>
          <a:off x="2246595" y="52320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54A8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24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Algorithm Simulation</a:t>
            </a:r>
            <a:endParaRPr/>
          </a:p>
        </p:txBody>
      </p:sp>
      <p:sp>
        <p:nvSpPr>
          <p:cNvPr id="680" name="Google Shape;680;p24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681" name="Google Shape;681;p24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682" name="Google Shape;682;p24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3" name="Google Shape;683;p24"/>
          <p:cNvSpPr/>
          <p:nvPr/>
        </p:nvSpPr>
        <p:spPr>
          <a:xfrm>
            <a:off x="5525202" y="2520993"/>
            <a:ext cx="578734" cy="567160"/>
          </a:xfrm>
          <a:prstGeom prst="ellipse">
            <a:avLst/>
          </a:prstGeom>
          <a:solidFill>
            <a:srgbClr val="0F6FC6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684" name="Google Shape;684;p24"/>
          <p:cNvSpPr/>
          <p:nvPr/>
        </p:nvSpPr>
        <p:spPr>
          <a:xfrm>
            <a:off x="6957762" y="1673514"/>
            <a:ext cx="578734" cy="567160"/>
          </a:xfrm>
          <a:prstGeom prst="ellipse">
            <a:avLst/>
          </a:prstGeom>
          <a:solidFill>
            <a:srgbClr val="0F6FC6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85" name="Google Shape;685;p24"/>
          <p:cNvSpPr/>
          <p:nvPr/>
        </p:nvSpPr>
        <p:spPr>
          <a:xfrm>
            <a:off x="6957762" y="3555839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86" name="Google Shape;686;p24"/>
          <p:cNvSpPr/>
          <p:nvPr/>
        </p:nvSpPr>
        <p:spPr>
          <a:xfrm>
            <a:off x="8396872" y="2520993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87" name="Google Shape;687;p24"/>
          <p:cNvSpPr/>
          <p:nvPr/>
        </p:nvSpPr>
        <p:spPr>
          <a:xfrm>
            <a:off x="9841206" y="1597481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88" name="Google Shape;688;p24"/>
          <p:cNvSpPr/>
          <p:nvPr/>
        </p:nvSpPr>
        <p:spPr>
          <a:xfrm>
            <a:off x="9841206" y="3464650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89" name="Google Shape;689;p24"/>
          <p:cNvSpPr/>
          <p:nvPr/>
        </p:nvSpPr>
        <p:spPr>
          <a:xfrm>
            <a:off x="11326599" y="2443072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690" name="Google Shape;690;p24"/>
          <p:cNvCxnSpPr>
            <a:stCxn id="683" idx="6"/>
            <a:endCxn id="684" idx="4"/>
          </p:cNvCxnSpPr>
          <p:nvPr/>
        </p:nvCxnSpPr>
        <p:spPr>
          <a:xfrm flipH="1" rot="10800000">
            <a:off x="6103936" y="2240573"/>
            <a:ext cx="11433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1" name="Google Shape;691;p24"/>
          <p:cNvCxnSpPr>
            <a:stCxn id="683" idx="6"/>
            <a:endCxn id="685" idx="0"/>
          </p:cNvCxnSpPr>
          <p:nvPr/>
        </p:nvCxnSpPr>
        <p:spPr>
          <a:xfrm>
            <a:off x="6103936" y="2804573"/>
            <a:ext cx="11433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2" name="Google Shape;692;p24"/>
          <p:cNvCxnSpPr>
            <a:stCxn id="686" idx="2"/>
            <a:endCxn id="685" idx="0"/>
          </p:cNvCxnSpPr>
          <p:nvPr/>
        </p:nvCxnSpPr>
        <p:spPr>
          <a:xfrm flipH="1">
            <a:off x="7247272" y="2804573"/>
            <a:ext cx="11496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3" name="Google Shape;693;p24"/>
          <p:cNvCxnSpPr>
            <a:stCxn id="684" idx="4"/>
            <a:endCxn id="686" idx="2"/>
          </p:cNvCxnSpPr>
          <p:nvPr/>
        </p:nvCxnSpPr>
        <p:spPr>
          <a:xfrm>
            <a:off x="7247129" y="2240674"/>
            <a:ext cx="11496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4" name="Google Shape;694;p24"/>
          <p:cNvCxnSpPr>
            <a:stCxn id="686" idx="6"/>
            <a:endCxn id="687" idx="4"/>
          </p:cNvCxnSpPr>
          <p:nvPr/>
        </p:nvCxnSpPr>
        <p:spPr>
          <a:xfrm flipH="1" rot="10800000">
            <a:off x="8975606" y="2164673"/>
            <a:ext cx="1155000" cy="63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5" name="Google Shape;695;p24"/>
          <p:cNvCxnSpPr>
            <a:stCxn id="686" idx="6"/>
            <a:endCxn id="688" idx="0"/>
          </p:cNvCxnSpPr>
          <p:nvPr/>
        </p:nvCxnSpPr>
        <p:spPr>
          <a:xfrm>
            <a:off x="8975606" y="2804573"/>
            <a:ext cx="1155000" cy="66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6" name="Google Shape;696;p24"/>
          <p:cNvCxnSpPr>
            <a:stCxn id="687" idx="4"/>
            <a:endCxn id="689" idx="2"/>
          </p:cNvCxnSpPr>
          <p:nvPr/>
        </p:nvCxnSpPr>
        <p:spPr>
          <a:xfrm>
            <a:off x="10130573" y="2164641"/>
            <a:ext cx="1196100" cy="561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7" name="Google Shape;697;p24"/>
          <p:cNvCxnSpPr>
            <a:stCxn id="688" idx="0"/>
            <a:endCxn id="689" idx="2"/>
          </p:cNvCxnSpPr>
          <p:nvPr/>
        </p:nvCxnSpPr>
        <p:spPr>
          <a:xfrm flipH="1" rot="10800000">
            <a:off x="10130573" y="2726650"/>
            <a:ext cx="1196100" cy="73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8" name="Google Shape;698;p24"/>
          <p:cNvSpPr txBox="1"/>
          <p:nvPr/>
        </p:nvSpPr>
        <p:spPr>
          <a:xfrm>
            <a:off x="6429273" y="216805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99" name="Google Shape;699;p24"/>
          <p:cNvSpPr txBox="1"/>
          <p:nvPr/>
        </p:nvSpPr>
        <p:spPr>
          <a:xfrm>
            <a:off x="6410419" y="310921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00" name="Google Shape;700;p24"/>
          <p:cNvSpPr txBox="1"/>
          <p:nvPr/>
        </p:nvSpPr>
        <p:spPr>
          <a:xfrm>
            <a:off x="7767261" y="313461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01" name="Google Shape;701;p24"/>
          <p:cNvSpPr txBox="1"/>
          <p:nvPr/>
        </p:nvSpPr>
        <p:spPr>
          <a:xfrm>
            <a:off x="7832823" y="219213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02" name="Google Shape;702;p24"/>
          <p:cNvSpPr txBox="1"/>
          <p:nvPr/>
        </p:nvSpPr>
        <p:spPr>
          <a:xfrm>
            <a:off x="9297687" y="2170297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703" name="Google Shape;703;p24"/>
          <p:cNvSpPr txBox="1"/>
          <p:nvPr/>
        </p:nvSpPr>
        <p:spPr>
          <a:xfrm>
            <a:off x="9310775" y="315705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704" name="Google Shape;704;p24"/>
          <p:cNvSpPr txBox="1"/>
          <p:nvPr/>
        </p:nvSpPr>
        <p:spPr>
          <a:xfrm>
            <a:off x="10764123" y="215731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05" name="Google Shape;705;p24"/>
          <p:cNvSpPr txBox="1"/>
          <p:nvPr/>
        </p:nvSpPr>
        <p:spPr>
          <a:xfrm>
            <a:off x="10774662" y="30314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aphicFrame>
        <p:nvGraphicFramePr>
          <p:cNvPr id="706" name="Google Shape;706;p24"/>
          <p:cNvGraphicFramePr/>
          <p:nvPr/>
        </p:nvGraphicFramePr>
        <p:xfrm>
          <a:off x="2257418" y="487426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Node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707" name="Google Shape;707;p24"/>
          <p:cNvGraphicFramePr/>
          <p:nvPr/>
        </p:nvGraphicFramePr>
        <p:xfrm>
          <a:off x="772824" y="97700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1607450"/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Current Node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08" name="Google Shape;708;p24"/>
          <p:cNvGraphicFramePr/>
          <p:nvPr/>
        </p:nvGraphicFramePr>
        <p:xfrm>
          <a:off x="772824" y="167351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1607450"/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Neighbor Node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09" name="Google Shape;709;p24"/>
          <p:cNvGraphicFramePr/>
          <p:nvPr/>
        </p:nvGraphicFramePr>
        <p:xfrm>
          <a:off x="2380265" y="1674228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710" name="Google Shape;710;p24"/>
          <p:cNvSpPr txBox="1"/>
          <p:nvPr/>
        </p:nvSpPr>
        <p:spPr>
          <a:xfrm>
            <a:off x="1047162" y="3095651"/>
            <a:ext cx="3828677" cy="92333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graphicFrame>
        <p:nvGraphicFramePr>
          <p:cNvPr id="711" name="Google Shape;711;p24"/>
          <p:cNvGraphicFramePr/>
          <p:nvPr/>
        </p:nvGraphicFramePr>
        <p:xfrm>
          <a:off x="2380265" y="97834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712" name="Google Shape;712;p24"/>
          <p:cNvGraphicFramePr/>
          <p:nvPr/>
        </p:nvGraphicFramePr>
        <p:xfrm>
          <a:off x="2257418" y="52646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5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Algorithm Simulation</a:t>
            </a:r>
            <a:endParaRPr/>
          </a:p>
        </p:txBody>
      </p:sp>
      <p:sp>
        <p:nvSpPr>
          <p:cNvPr id="718" name="Google Shape;718;p25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719" name="Google Shape;719;p25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720" name="Google Shape;720;p25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1" name="Google Shape;721;p25"/>
          <p:cNvSpPr/>
          <p:nvPr/>
        </p:nvSpPr>
        <p:spPr>
          <a:xfrm>
            <a:off x="5525202" y="2520993"/>
            <a:ext cx="578734" cy="567160"/>
          </a:xfrm>
          <a:prstGeom prst="ellipse">
            <a:avLst/>
          </a:prstGeom>
          <a:solidFill>
            <a:srgbClr val="0F6FC6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722" name="Google Shape;722;p25"/>
          <p:cNvSpPr/>
          <p:nvPr/>
        </p:nvSpPr>
        <p:spPr>
          <a:xfrm>
            <a:off x="6957762" y="1673514"/>
            <a:ext cx="578734" cy="567160"/>
          </a:xfrm>
          <a:prstGeom prst="ellipse">
            <a:avLst/>
          </a:prstGeom>
          <a:solidFill>
            <a:srgbClr val="0F6FC6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23" name="Google Shape;723;p25"/>
          <p:cNvSpPr/>
          <p:nvPr/>
        </p:nvSpPr>
        <p:spPr>
          <a:xfrm>
            <a:off x="6957762" y="3555839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24" name="Google Shape;724;p25"/>
          <p:cNvSpPr/>
          <p:nvPr/>
        </p:nvSpPr>
        <p:spPr>
          <a:xfrm>
            <a:off x="8396872" y="2520993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25" name="Google Shape;725;p25"/>
          <p:cNvSpPr/>
          <p:nvPr/>
        </p:nvSpPr>
        <p:spPr>
          <a:xfrm>
            <a:off x="9841206" y="1597481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26" name="Google Shape;726;p25"/>
          <p:cNvSpPr/>
          <p:nvPr/>
        </p:nvSpPr>
        <p:spPr>
          <a:xfrm>
            <a:off x="9841206" y="3464650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27" name="Google Shape;727;p25"/>
          <p:cNvSpPr/>
          <p:nvPr/>
        </p:nvSpPr>
        <p:spPr>
          <a:xfrm>
            <a:off x="11326599" y="2443072"/>
            <a:ext cx="578734" cy="567160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rgbClr val="062E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cxnSp>
        <p:nvCxnSpPr>
          <p:cNvPr id="728" name="Google Shape;728;p25"/>
          <p:cNvCxnSpPr>
            <a:stCxn id="721" idx="6"/>
            <a:endCxn id="722" idx="4"/>
          </p:cNvCxnSpPr>
          <p:nvPr/>
        </p:nvCxnSpPr>
        <p:spPr>
          <a:xfrm flipH="1" rot="10800000">
            <a:off x="6103936" y="2240573"/>
            <a:ext cx="11433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9" name="Google Shape;729;p25"/>
          <p:cNvCxnSpPr>
            <a:stCxn id="721" idx="6"/>
            <a:endCxn id="723" idx="0"/>
          </p:cNvCxnSpPr>
          <p:nvPr/>
        </p:nvCxnSpPr>
        <p:spPr>
          <a:xfrm>
            <a:off x="6103936" y="2804573"/>
            <a:ext cx="11433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0" name="Google Shape;730;p25"/>
          <p:cNvCxnSpPr>
            <a:stCxn id="724" idx="2"/>
            <a:endCxn id="723" idx="0"/>
          </p:cNvCxnSpPr>
          <p:nvPr/>
        </p:nvCxnSpPr>
        <p:spPr>
          <a:xfrm flipH="1">
            <a:off x="7247272" y="2804573"/>
            <a:ext cx="1149600" cy="75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1" name="Google Shape;731;p25"/>
          <p:cNvCxnSpPr>
            <a:stCxn id="722" idx="4"/>
            <a:endCxn id="724" idx="2"/>
          </p:cNvCxnSpPr>
          <p:nvPr/>
        </p:nvCxnSpPr>
        <p:spPr>
          <a:xfrm>
            <a:off x="7247129" y="2240674"/>
            <a:ext cx="1149600" cy="564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2" name="Google Shape;732;p25"/>
          <p:cNvCxnSpPr>
            <a:stCxn id="724" idx="6"/>
            <a:endCxn id="725" idx="4"/>
          </p:cNvCxnSpPr>
          <p:nvPr/>
        </p:nvCxnSpPr>
        <p:spPr>
          <a:xfrm flipH="1" rot="10800000">
            <a:off x="8975606" y="2164673"/>
            <a:ext cx="1155000" cy="639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3" name="Google Shape;733;p25"/>
          <p:cNvCxnSpPr>
            <a:stCxn id="724" idx="6"/>
            <a:endCxn id="726" idx="0"/>
          </p:cNvCxnSpPr>
          <p:nvPr/>
        </p:nvCxnSpPr>
        <p:spPr>
          <a:xfrm>
            <a:off x="8975606" y="2804573"/>
            <a:ext cx="1155000" cy="660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4" name="Google Shape;734;p25"/>
          <p:cNvCxnSpPr>
            <a:stCxn id="725" idx="4"/>
            <a:endCxn id="727" idx="2"/>
          </p:cNvCxnSpPr>
          <p:nvPr/>
        </p:nvCxnSpPr>
        <p:spPr>
          <a:xfrm>
            <a:off x="10130573" y="2164641"/>
            <a:ext cx="1196100" cy="5619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5" name="Google Shape;735;p25"/>
          <p:cNvCxnSpPr>
            <a:stCxn id="726" idx="0"/>
            <a:endCxn id="727" idx="2"/>
          </p:cNvCxnSpPr>
          <p:nvPr/>
        </p:nvCxnSpPr>
        <p:spPr>
          <a:xfrm flipH="1" rot="10800000">
            <a:off x="10130573" y="2726650"/>
            <a:ext cx="1196100" cy="738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6" name="Google Shape;736;p25"/>
          <p:cNvSpPr txBox="1"/>
          <p:nvPr/>
        </p:nvSpPr>
        <p:spPr>
          <a:xfrm>
            <a:off x="6429273" y="216805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37" name="Google Shape;737;p25"/>
          <p:cNvSpPr txBox="1"/>
          <p:nvPr/>
        </p:nvSpPr>
        <p:spPr>
          <a:xfrm>
            <a:off x="6410419" y="310921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38" name="Google Shape;738;p25"/>
          <p:cNvSpPr txBox="1"/>
          <p:nvPr/>
        </p:nvSpPr>
        <p:spPr>
          <a:xfrm>
            <a:off x="7767261" y="313461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39" name="Google Shape;739;p25"/>
          <p:cNvSpPr txBox="1"/>
          <p:nvPr/>
        </p:nvSpPr>
        <p:spPr>
          <a:xfrm>
            <a:off x="7832823" y="219213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40" name="Google Shape;740;p25"/>
          <p:cNvSpPr txBox="1"/>
          <p:nvPr/>
        </p:nvSpPr>
        <p:spPr>
          <a:xfrm>
            <a:off x="9297687" y="2170297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741" name="Google Shape;741;p25"/>
          <p:cNvSpPr txBox="1"/>
          <p:nvPr/>
        </p:nvSpPr>
        <p:spPr>
          <a:xfrm>
            <a:off x="9310775" y="3157054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742" name="Google Shape;742;p25"/>
          <p:cNvSpPr txBox="1"/>
          <p:nvPr/>
        </p:nvSpPr>
        <p:spPr>
          <a:xfrm>
            <a:off x="10764123" y="215731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43" name="Google Shape;743;p25"/>
          <p:cNvSpPr txBox="1"/>
          <p:nvPr/>
        </p:nvSpPr>
        <p:spPr>
          <a:xfrm>
            <a:off x="10774662" y="30314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graphicFrame>
        <p:nvGraphicFramePr>
          <p:cNvPr id="744" name="Google Shape;744;p25"/>
          <p:cNvGraphicFramePr/>
          <p:nvPr/>
        </p:nvGraphicFramePr>
        <p:xfrm>
          <a:off x="2257418" y="487426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Node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distance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745" name="Google Shape;745;p25"/>
          <p:cNvGraphicFramePr/>
          <p:nvPr/>
        </p:nvGraphicFramePr>
        <p:xfrm>
          <a:off x="772824" y="97700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1607450"/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Current Node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46" name="Google Shape;746;p25"/>
          <p:cNvGraphicFramePr/>
          <p:nvPr/>
        </p:nvGraphicFramePr>
        <p:xfrm>
          <a:off x="772824" y="1673514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1607450"/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Neighbor Node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graphicFrame>
        <p:nvGraphicFramePr>
          <p:cNvPr id="747" name="Google Shape;747;p25"/>
          <p:cNvGraphicFramePr/>
          <p:nvPr/>
        </p:nvGraphicFramePr>
        <p:xfrm>
          <a:off x="2380265" y="977009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{037833F8-C205-4651-ACA1-CD6F70389ABC}</a:tableStyleId>
              </a:tblPr>
              <a:tblGrid>
                <a:gridCol w="782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748" name="Google Shape;748;p25"/>
          <p:cNvGraphicFramePr/>
          <p:nvPr/>
        </p:nvGraphicFramePr>
        <p:xfrm>
          <a:off x="2257418" y="52451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{037833F8-C205-4651-ACA1-CD6F70389ABC}</a:tableStyleId>
              </a:tblPr>
              <a:tblGrid>
                <a:gridCol w="1009400"/>
                <a:gridCol w="652275"/>
                <a:gridCol w="652275"/>
                <a:gridCol w="652275"/>
                <a:gridCol w="652275"/>
                <a:gridCol w="652275"/>
                <a:gridCol w="652275"/>
                <a:gridCol w="65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visited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54A8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6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754" name="Google Shape;754;p26"/>
          <p:cNvSpPr txBox="1"/>
          <p:nvPr>
            <p:ph idx="1" type="body"/>
          </p:nvPr>
        </p:nvSpPr>
        <p:spPr>
          <a:xfrm>
            <a:off x="1130270" y="823136"/>
            <a:ext cx="9603275" cy="51926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Dijkstra (Graph, source)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-US"/>
              <a:t>Create vertex set Q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-US"/>
              <a:t>for each vertex v in Graph:</a:t>
            </a:r>
            <a:endParaRPr/>
          </a:p>
          <a:p>
            <a:pPr indent="-457200" lvl="1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distance[v]:= infinity</a:t>
            </a:r>
            <a:endParaRPr/>
          </a:p>
          <a:p>
            <a:pPr indent="-457200" lvl="1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add v to Q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-US"/>
              <a:t>distance[source] := 0</a:t>
            </a:r>
            <a:endParaRPr/>
          </a:p>
          <a:p>
            <a:pPr indent="-457200" lvl="0" marL="4572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-US"/>
              <a:t>While Q is not empty:</a:t>
            </a:r>
            <a:endParaRPr/>
          </a:p>
          <a:p>
            <a:pPr indent="-457200" lvl="1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u:= vertex in Q with smallest distance[] value</a:t>
            </a:r>
            <a:endParaRPr/>
          </a:p>
          <a:p>
            <a:pPr indent="-457200" lvl="1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Remove u from Q</a:t>
            </a:r>
            <a:endParaRPr/>
          </a:p>
          <a:p>
            <a:pPr indent="-457200" lvl="1" marL="9144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For each neighbor v of u where v is in Q:</a:t>
            </a:r>
            <a:endParaRPr/>
          </a:p>
          <a:p>
            <a:pPr indent="-457200" lvl="2" marL="13716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AutoNum type="arabicPeriod"/>
            </a:pPr>
            <a:r>
              <a:rPr b="1" lang="en-US"/>
              <a:t>Relax</a:t>
            </a:r>
            <a:r>
              <a:rPr lang="en-US"/>
              <a:t> distance[v]</a:t>
            </a:r>
            <a:endParaRPr/>
          </a:p>
        </p:txBody>
      </p:sp>
      <p:sp>
        <p:nvSpPr>
          <p:cNvPr id="755" name="Google Shape;755;p26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756" name="Google Shape;756;p26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757" name="Google Shape;757;p26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8" name="Google Shape;758;p26"/>
          <p:cNvSpPr txBox="1"/>
          <p:nvPr/>
        </p:nvSpPr>
        <p:spPr>
          <a:xfrm>
            <a:off x="6625182" y="4195809"/>
            <a:ext cx="4697889" cy="12003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process of relaxing an edge (u,v) consists of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 whether going through vertex 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improves the shortest path to vertex 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found so far and, if so, updating distance[v]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7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Complexity Analysis</a:t>
            </a:r>
            <a:endParaRPr/>
          </a:p>
        </p:txBody>
      </p:sp>
      <p:sp>
        <p:nvSpPr>
          <p:cNvPr id="764" name="Google Shape;764;p27"/>
          <p:cNvSpPr txBox="1"/>
          <p:nvPr>
            <p:ph idx="1" type="body"/>
          </p:nvPr>
        </p:nvSpPr>
        <p:spPr>
          <a:xfrm>
            <a:off x="1185270" y="943524"/>
            <a:ext cx="9603300" cy="46431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71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765" name="Google Shape;765;p27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766" name="Google Shape;766;p27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767" name="Google Shape;767;p27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8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Improving the Complexity</a:t>
            </a:r>
            <a:endParaRPr/>
          </a:p>
        </p:txBody>
      </p:sp>
      <p:sp>
        <p:nvSpPr>
          <p:cNvPr id="773" name="Google Shape;773;p28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In Dijkstra’s Algorithm, we repeatedly tried to find the minimum value in an array.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Can you remember any data structure that can find the minimum of an array in constant time?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We can use a min-heap in this case.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The min-heap will support two operations: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Extract-Min</a:t>
            </a:r>
            <a:endParaRPr/>
          </a:p>
          <a:p>
            <a:pPr indent="-228600" lvl="2" marL="11430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Find the node with minimum distance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Decrease-Key</a:t>
            </a:r>
            <a:endParaRPr/>
          </a:p>
          <a:p>
            <a:pPr indent="-228600" lvl="2" marL="11430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Reduce the distance of a given node.</a:t>
            </a:r>
            <a:endParaRPr/>
          </a:p>
        </p:txBody>
      </p:sp>
      <p:sp>
        <p:nvSpPr>
          <p:cNvPr id="774" name="Google Shape;774;p28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775" name="Google Shape;775;p28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776" name="Google Shape;776;p28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29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Pseudocode with Min-Heap</a:t>
            </a:r>
            <a:endParaRPr/>
          </a:p>
        </p:txBody>
      </p:sp>
      <p:sp>
        <p:nvSpPr>
          <p:cNvPr id="782" name="Google Shape;782;p29"/>
          <p:cNvSpPr txBox="1"/>
          <p:nvPr>
            <p:ph idx="1" type="body"/>
          </p:nvPr>
        </p:nvSpPr>
        <p:spPr>
          <a:xfrm>
            <a:off x="1130270" y="823137"/>
            <a:ext cx="9603275" cy="532099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508" r="0" t="-34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783" name="Google Shape;783;p29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784" name="Google Shape;784;p29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785" name="Google Shape;785;p29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0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Using STL</a:t>
            </a:r>
            <a:endParaRPr/>
          </a:p>
        </p:txBody>
      </p:sp>
      <p:sp>
        <p:nvSpPr>
          <p:cNvPr id="791" name="Google Shape;791;p30"/>
          <p:cNvSpPr txBox="1"/>
          <p:nvPr>
            <p:ph idx="1" type="body"/>
          </p:nvPr>
        </p:nvSpPr>
        <p:spPr>
          <a:xfrm>
            <a:off x="1130270" y="823136"/>
            <a:ext cx="9603275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We can either use set or priority_queue that supports the operation of heap.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In both data structure we will store data as pairs – the distance and the index of the vertex.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You need to use some workaround while using priority_queue.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is a max-heap.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It does not support removing of a random element.</a:t>
            </a:r>
            <a:endParaRPr/>
          </a:p>
          <a:p>
            <a:pPr indent="-228600" lvl="2" marL="11430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Char char="•"/>
            </a:pPr>
            <a:r>
              <a:rPr lang="en-US"/>
              <a:t>Can’t use decreaseKey operation.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792" name="Google Shape;792;p30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793" name="Google Shape;793;p30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794" name="Google Shape;794;p30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31"/>
          <p:cNvSpPr txBox="1"/>
          <p:nvPr>
            <p:ph type="title"/>
          </p:nvPr>
        </p:nvSpPr>
        <p:spPr>
          <a:xfrm>
            <a:off x="1125460" y="134930"/>
            <a:ext cx="9603275" cy="484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800" name="Google Shape;800;p31"/>
          <p:cNvSpPr txBox="1"/>
          <p:nvPr>
            <p:ph idx="1" type="body"/>
          </p:nvPr>
        </p:nvSpPr>
        <p:spPr>
          <a:xfrm>
            <a:off x="1130270" y="823136"/>
            <a:ext cx="9922741" cy="46432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/>
              <a:t>Introduction to Algorithm</a:t>
            </a:r>
            <a:r>
              <a:rPr lang="en-US"/>
              <a:t>, 4</a:t>
            </a:r>
            <a:r>
              <a:rPr baseline="30000" lang="en-US"/>
              <a:t>th</a:t>
            </a:r>
            <a:r>
              <a:rPr lang="en-US"/>
              <a:t> ed, Leiserson, Charles Eric, Ronald L. Rivest, Thomas H. Cormen, and Clifford Stein.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Dijkstra’s Algorithm for Adjacency List Representation | Greedy Algo-8 – GeeksforGeeks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Dijkstra's Shortest Path Algorithm using priority_queue of STL - GeeksforGeeks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Dijkstra on sparse graphs - Algorithms for Competitive Programming (cp-algorithms.com)</a:t>
            </a:r>
            <a:endParaRPr/>
          </a:p>
          <a:p>
            <a:pPr indent="-101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801" name="Google Shape;801;p31"/>
          <p:cNvSpPr txBox="1"/>
          <p:nvPr>
            <p:ph idx="10" type="dt"/>
          </p:nvPr>
        </p:nvSpPr>
        <p:spPr>
          <a:xfrm>
            <a:off x="9670113" y="6548798"/>
            <a:ext cx="251539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October 6, 2025</a:t>
            </a:r>
            <a:endParaRPr/>
          </a:p>
        </p:txBody>
      </p:sp>
      <p:sp>
        <p:nvSpPr>
          <p:cNvPr id="802" name="Google Shape;802;p31"/>
          <p:cNvSpPr txBox="1"/>
          <p:nvPr>
            <p:ph idx="11" type="ftr"/>
          </p:nvPr>
        </p:nvSpPr>
        <p:spPr>
          <a:xfrm>
            <a:off x="0" y="6548799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CSE 2202: Algorithm Analysis and Design Laboratory</a:t>
            </a:r>
            <a:endParaRPr/>
          </a:p>
        </p:txBody>
      </p:sp>
      <p:sp>
        <p:nvSpPr>
          <p:cNvPr id="803" name="Google Shape;803;p31"/>
          <p:cNvSpPr txBox="1"/>
          <p:nvPr>
            <p:ph idx="12" type="sldNum"/>
          </p:nvPr>
        </p:nvSpPr>
        <p:spPr>
          <a:xfrm>
            <a:off x="9918076" y="137408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llery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2023-12-20T06:09:06Z</dcterms:created>
  <dc:creator>Md Mehrab Hossain Opi</dc:creator>
</cp:coreProperties>
</file>